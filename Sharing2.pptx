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5.xml" ContentType="application/vnd.openxmlformats-officedocument.presentationml.tags+xml"/>
  <Override PartName="/ppt/notesSlides/notesSlide15.xml" ContentType="application/vnd.openxmlformats-officedocument.presentationml.notesSlide+xml"/>
  <Override PartName="/ppt/tags/tag6.xml" ContentType="application/vnd.openxmlformats-officedocument.presentationml.tags+xml"/>
  <Override PartName="/ppt/notesSlides/notesSlide16.xml" ContentType="application/vnd.openxmlformats-officedocument.presentationml.notesSlide+xml"/>
  <Override PartName="/ppt/tags/tag7.xml" ContentType="application/vnd.openxmlformats-officedocument.presentationml.tags+xml"/>
  <Override PartName="/ppt/notesSlides/notesSlide17.xml" ContentType="application/vnd.openxmlformats-officedocument.presentationml.notesSlide+xml"/>
  <Override PartName="/ppt/tags/tag8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73" r:id="rId3"/>
    <p:sldId id="258" r:id="rId4"/>
    <p:sldId id="1727" r:id="rId5"/>
    <p:sldId id="1756" r:id="rId6"/>
    <p:sldId id="1757" r:id="rId7"/>
    <p:sldId id="1758" r:id="rId8"/>
    <p:sldId id="1759" r:id="rId9"/>
    <p:sldId id="1738" r:id="rId10"/>
    <p:sldId id="1711" r:id="rId11"/>
    <p:sldId id="1739" r:id="rId12"/>
    <p:sldId id="1740" r:id="rId13"/>
    <p:sldId id="1714" r:id="rId14"/>
    <p:sldId id="1741" r:id="rId15"/>
    <p:sldId id="1752" r:id="rId16"/>
    <p:sldId id="1742" r:id="rId17"/>
    <p:sldId id="1753" r:id="rId18"/>
    <p:sldId id="1743" r:id="rId19"/>
    <p:sldId id="1754" r:id="rId20"/>
    <p:sldId id="1744" r:id="rId21"/>
    <p:sldId id="1755" r:id="rId22"/>
    <p:sldId id="1730" r:id="rId23"/>
    <p:sldId id="1750" r:id="rId24"/>
    <p:sldId id="1746" r:id="rId25"/>
    <p:sldId id="1747" r:id="rId26"/>
    <p:sldId id="1712" r:id="rId27"/>
    <p:sldId id="1718" r:id="rId28"/>
    <p:sldId id="1749" r:id="rId29"/>
    <p:sldId id="1751" r:id="rId30"/>
    <p:sldId id="1748" r:id="rId31"/>
    <p:sldId id="1726" r:id="rId32"/>
  </p:sldIdLst>
  <p:sldSz cx="12192000" cy="6858000"/>
  <p:notesSz cx="6858000" cy="9144000"/>
  <p:custDataLst>
    <p:tags r:id="rId3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58753" autoAdjust="0"/>
  </p:normalViewPr>
  <p:slideViewPr>
    <p:cSldViewPr snapToGrid="0">
      <p:cViewPr varScale="1">
        <p:scale>
          <a:sx n="55" d="100"/>
          <a:sy n="55" d="100"/>
        </p:scale>
        <p:origin x="163" y="53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三个部分，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架构的演进</a:t>
            </a:r>
            <a:endParaRPr lang="en-US" altLang="zh-CN" dirty="0"/>
          </a:p>
          <a:p>
            <a:r>
              <a:rPr lang="en-US" altLang="zh-CN" dirty="0"/>
              <a:t>Spring Cloud</a:t>
            </a:r>
            <a:r>
              <a:rPr lang="zh-CN" altLang="en-US" dirty="0"/>
              <a:t>的介绍</a:t>
            </a:r>
            <a:endParaRPr lang="en-US" altLang="zh-CN" dirty="0"/>
          </a:p>
          <a:p>
            <a:r>
              <a:rPr lang="en-US" altLang="zh-CN" dirty="0"/>
              <a:t>Dubbo</a:t>
            </a:r>
            <a:r>
              <a:rPr lang="zh-CN" altLang="en-US" dirty="0"/>
              <a:t>的介绍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06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随着业务量的增加，以及应用规模的扩大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应用架构的历史演进过程，大致分为</a:t>
            </a:r>
            <a:r>
              <a:rPr lang="en-US" altLang="zh-CN" dirty="0"/>
              <a:t>4</a:t>
            </a:r>
            <a:r>
              <a:rPr lang="zh-CN" altLang="en-US" dirty="0"/>
              <a:t>个阶段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第一个阶段是，垂直应用结构，这种架构一般是一个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</a:t>
            </a:r>
            <a:endParaRPr lang="en-US" altLang="zh-CN" dirty="0"/>
          </a:p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dirty="0"/>
          </a:p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dirty="0"/>
          </a:p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010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垂直应用架构，就是我们常说的单机架构</a:t>
            </a:r>
            <a:endParaRPr lang="en-US" altLang="zh-CN" dirty="0"/>
          </a:p>
          <a:p>
            <a:r>
              <a:rPr lang="zh-CN" altLang="en-US" dirty="0"/>
              <a:t>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包就完成全部工作，一个</a:t>
            </a:r>
            <a:r>
              <a:rPr lang="en-US" altLang="zh-CN" dirty="0"/>
              <a:t>tomcat</a:t>
            </a:r>
            <a:r>
              <a:rPr lang="zh-CN" altLang="en-US" dirty="0"/>
              <a:t>进程就是一个服务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特点：</a:t>
            </a:r>
            <a:endParaRPr lang="en-US" altLang="zh-CN" dirty="0"/>
          </a:p>
          <a:p>
            <a:r>
              <a:rPr lang="zh-CN" altLang="en-US" dirty="0"/>
              <a:t>维护成本高， 这个可以用</a:t>
            </a:r>
            <a:r>
              <a:rPr lang="en-US" altLang="zh-CN" dirty="0" err="1"/>
              <a:t>tdd</a:t>
            </a:r>
            <a:r>
              <a:rPr lang="zh-CN" altLang="en-US" dirty="0"/>
              <a:t>来解决</a:t>
            </a:r>
            <a:endParaRPr lang="en-US" altLang="zh-CN" dirty="0"/>
          </a:p>
          <a:p>
            <a:r>
              <a:rPr lang="zh-CN" altLang="en-US" dirty="0"/>
              <a:t>部署效率低，因为是全量部署，所以用时会越来越长，而且新增的功能测试</a:t>
            </a:r>
            <a:r>
              <a:rPr lang="en-US" altLang="zh-CN" dirty="0"/>
              <a:t>   	</a:t>
            </a:r>
            <a:r>
              <a:rPr lang="zh-CN" altLang="en-US" dirty="0"/>
              <a:t>跑不过或者环境有问题，都会导致部署失败，然后重新来过。</a:t>
            </a:r>
            <a:r>
              <a:rPr lang="en-US" altLang="zh-CN" dirty="0"/>
              <a:t>	</a:t>
            </a:r>
            <a:r>
              <a:rPr lang="zh-CN" altLang="en-US" dirty="0"/>
              <a:t>详情可以参考</a:t>
            </a:r>
            <a:r>
              <a:rPr lang="en-US" altLang="zh-CN" dirty="0"/>
              <a:t>ssm2014</a:t>
            </a:r>
          </a:p>
          <a:p>
            <a:r>
              <a:rPr lang="zh-CN" altLang="en-US" dirty="0"/>
              <a:t>系统可靠性变差， 因为所有功能都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在一个进程里面，一旦有一个接口出现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 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故障，内存泄漏，就会影响整个节点的宕机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新功能上线周期变长，耦合太多东西，要改的地方太多，有时甚至不确定哪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里需要修改，同样可以参考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ssm2014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675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全称是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 Procedure Call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，是一种进程间通信方式，允许像调用本地服务一样的调用远程服务，一定程度上做到了公共服务的重用。支撑这种架构的框架就是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框架，业界流行的开源的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框架主要有：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9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dirty="0"/>
              <a:t>SOA</a:t>
            </a:r>
            <a:r>
              <a:rPr lang="zh-CN" altLang="en-US" dirty="0"/>
              <a:t>是面向服务架构，是一种粗粒度的、以服务为中心的架构。业界流行的框架：</a:t>
            </a:r>
          </a:p>
          <a:p>
            <a:r>
              <a:rPr lang="en-US" altLang="zh-CN" dirty="0"/>
              <a:t>Dubbo/</a:t>
            </a:r>
            <a:r>
              <a:rPr lang="en-US" altLang="zh-CN" dirty="0" err="1"/>
              <a:t>Dubbox</a:t>
            </a:r>
            <a:r>
              <a:rPr lang="zh-CN" altLang="en-US" dirty="0"/>
              <a:t>（阿里</a:t>
            </a:r>
            <a:r>
              <a:rPr lang="en-US" altLang="zh-CN" dirty="0"/>
              <a:t>/</a:t>
            </a:r>
            <a:r>
              <a:rPr lang="zh-CN" altLang="en-US" dirty="0"/>
              <a:t>当当开源）</a:t>
            </a:r>
          </a:p>
          <a:p>
            <a:r>
              <a:rPr lang="en-US" altLang="zh-CN" dirty="0"/>
              <a:t>HSF</a:t>
            </a:r>
            <a:r>
              <a:rPr lang="zh-CN" altLang="en-US" dirty="0"/>
              <a:t>（阿里商业版）</a:t>
            </a:r>
          </a:p>
          <a:p>
            <a:r>
              <a:rPr lang="en-US" altLang="zh-CN" dirty="0"/>
              <a:t>DSF</a:t>
            </a:r>
            <a:r>
              <a:rPr lang="zh-CN" altLang="en-US" dirty="0"/>
              <a:t>（华为商业版）</a:t>
            </a:r>
          </a:p>
          <a:p>
            <a:r>
              <a:rPr lang="en-US" altLang="zh-CN" dirty="0"/>
              <a:t>Coral Service</a:t>
            </a:r>
            <a:r>
              <a:rPr lang="zh-CN" altLang="en-US" dirty="0"/>
              <a:t>（亚马逊内部）</a:t>
            </a:r>
          </a:p>
          <a:p>
            <a:r>
              <a:rPr lang="en-US" altLang="zh-CN" dirty="0"/>
              <a:t>Spring Cloud</a:t>
            </a:r>
            <a:r>
              <a:rPr lang="zh-CN" altLang="en-US" dirty="0"/>
              <a:t>（</a:t>
            </a:r>
            <a:r>
              <a:rPr lang="en-US" altLang="zh-CN" dirty="0"/>
              <a:t>pivotal</a:t>
            </a:r>
            <a:r>
              <a:rPr lang="zh-CN" altLang="en-US" dirty="0"/>
              <a:t>开源</a:t>
            </a:r>
            <a:r>
              <a:rPr lang="en-US" altLang="zh-CN" dirty="0"/>
              <a:t>/</a:t>
            </a:r>
            <a:r>
              <a:rPr lang="zh-CN" altLang="en-US" dirty="0"/>
              <a:t>商业版）</a:t>
            </a:r>
          </a:p>
          <a:p>
            <a:r>
              <a:rPr lang="zh-CN" altLang="en-US" dirty="0"/>
              <a:t>在上述框架中大家最熟悉的应该是</a:t>
            </a:r>
            <a:r>
              <a:rPr lang="en-US" altLang="zh-CN" dirty="0"/>
              <a:t>Dubbo</a:t>
            </a:r>
            <a:r>
              <a:rPr lang="zh-CN" altLang="en-US" dirty="0"/>
              <a:t>框架，</a:t>
            </a:r>
            <a:r>
              <a:rPr lang="en-US" altLang="zh-CN" dirty="0"/>
              <a:t>Dubbo</a:t>
            </a:r>
            <a:r>
              <a:rPr lang="zh-CN" altLang="en-US" dirty="0"/>
              <a:t>框架的官方文档写的非常好，学习分布式服务框架必读文档。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服务注册中心的协助下实现了，服务自动发现、统一配置、可配置的服务路由、可配置的集群容错机制、服务治理等；服务治理也是依赖服务注册中心实现的，和具体的服务消费者和提供者是松耦合的，服务治理包括：服务运行态管控、服务生命周期管理、服务监控、服务安全、服务故障快速定位等功能；为运维工作提供了极大的便利。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0216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889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r>
              <a:rPr lang="zh-CN" altLang="en-US" dirty="0"/>
              <a:t>为什么要使用微服务网关？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客户端会多次请求不同的微服务，增加了客户端的复杂性。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存在跨域请求，在一定场景下处理比较复杂。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认证复杂，每个服务都需要单独认证。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难以重构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某些微服务可能使用了防火墙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游览器不友好的协议，直接访问会有一定的困难。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zuul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开源的微服务网关，目前被用于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早期的网关组件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dirty="0"/>
          </a:p>
          <a:p>
            <a:r>
              <a:rPr lang="zh-CN" altLang="en-US" dirty="0"/>
              <a:t>小道消息：</a:t>
            </a:r>
            <a:endParaRPr lang="en-US" altLang="zh-CN" dirty="0"/>
          </a:p>
          <a:p>
            <a:r>
              <a:rPr lang="zh-CN" altLang="en-US" dirty="0"/>
              <a:t>因为</a:t>
            </a:r>
            <a:r>
              <a:rPr lang="en-US" altLang="zh-CN" dirty="0"/>
              <a:t>zuul1.0</a:t>
            </a:r>
            <a:r>
              <a:rPr lang="zh-CN" altLang="en-US" dirty="0"/>
              <a:t>性能不好或者是 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  <a:r>
              <a:rPr lang="zh-CN" altLang="en-US" dirty="0"/>
              <a:t>，官方也是推荐使用的</a:t>
            </a:r>
            <a:r>
              <a:rPr lang="en-US" altLang="zh-CN" dirty="0"/>
              <a:t>Spring cloud gateway</a:t>
            </a:r>
            <a:r>
              <a:rPr lang="zh-CN" altLang="en-US" dirty="0"/>
              <a:t>，有兴趣的自己去了解下。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r>
              <a:rPr lang="zh-CN" altLang="en-US" dirty="0"/>
              <a:t>作为一个微服务网关，主要的功能就是路由配置：</a:t>
            </a:r>
            <a:endParaRPr lang="en-US" altLang="zh-CN" dirty="0"/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这个是一个比较简单的</a:t>
            </a:r>
            <a:r>
              <a:rPr lang="en-US" altLang="zh-CN" dirty="0"/>
              <a:t>demo</a:t>
            </a:r>
            <a:r>
              <a:rPr lang="zh-CN" altLang="en-US" dirty="0"/>
              <a:t>，不一定是按这</a:t>
            </a:r>
            <a:r>
              <a:rPr lang="en-US" altLang="zh-CN" dirty="0"/>
              <a:t>demo</a:t>
            </a:r>
            <a:r>
              <a:rPr lang="zh-CN" altLang="en-US" dirty="0"/>
              <a:t>来配置，有多种配置的写法自由组合，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349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为什么要统一管理微服务配置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对于</a:t>
            </a:r>
            <a:r>
              <a:rPr lang="en-US" altLang="zh-CN" dirty="0"/>
              <a:t>Spring Boot</a:t>
            </a:r>
            <a:r>
              <a:rPr lang="zh-CN" altLang="en-US" dirty="0"/>
              <a:t>应用，我们可以将配置内容写入</a:t>
            </a:r>
            <a:r>
              <a:rPr lang="en-US" altLang="zh-CN" dirty="0" err="1"/>
              <a:t>application.yml</a:t>
            </a:r>
            <a:r>
              <a:rPr lang="zh-CN" altLang="en-US" dirty="0"/>
              <a:t>，设置多个</a:t>
            </a:r>
            <a:r>
              <a:rPr lang="en-US" altLang="zh-CN" dirty="0"/>
              <a:t>profile</a:t>
            </a:r>
            <a:r>
              <a:rPr lang="zh-CN" altLang="en-US" dirty="0"/>
              <a:t>，也可以用多个</a:t>
            </a:r>
            <a:r>
              <a:rPr lang="en-US" altLang="zh-CN" dirty="0"/>
              <a:t>application-{profile}.properties</a:t>
            </a:r>
            <a:r>
              <a:rPr lang="zh-CN" altLang="en-US" dirty="0"/>
              <a:t>文件配置，并在启动时指定</a:t>
            </a:r>
            <a:r>
              <a:rPr lang="en-US" altLang="zh-CN" dirty="0" err="1"/>
              <a:t>spring.profiles.active</a:t>
            </a:r>
            <a:r>
              <a:rPr lang="en-US" altLang="zh-CN" dirty="0"/>
              <a:t>={profile}</a:t>
            </a:r>
            <a:r>
              <a:rPr lang="zh-CN" altLang="en-US" dirty="0"/>
              <a:t>来加载不同环境下的配置。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这种方式也可以做到根据不同环境切换配置，但是为什么微服务架构的中不使用这种方式呢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微服务架构的配置管理有以下几个需求：</a:t>
            </a:r>
            <a:endParaRPr lang="en-US" altLang="zh-CN" dirty="0"/>
          </a:p>
          <a:p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集中管理：有可能你会有成百上千个微服务，那就不可能每个微服务自己管理配置（突然换一下数据库地址，不就改死人了吗），就需要有一个统一的位置管理，让微服务去获取配置；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不同环境不同配置，刚才的做法就满足了这一条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运行期间可以动态调整，例如可以根据各个微服务的负载情况，动态调整数据源连接池的大小或熔断阈值，并且在调整配置时是不需要停止微服务的。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配置修改后可自动更新，如配置发生变化，微服务能够自动更新配置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683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29327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使用就是这么简单，但是如果需要自动刷新的话，还需要引入</a:t>
            </a:r>
            <a:r>
              <a:rPr lang="en-US" altLang="zh-CN" dirty="0"/>
              <a:t>Spring cloud bus </a:t>
            </a:r>
            <a:r>
              <a:rPr lang="zh-CN" altLang="en-US" dirty="0"/>
              <a:t>进行异步通知集群中的其他拉取最新的配置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做配置更新步骤如下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、提交代码触发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请求给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bus/refresh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端接收到请求并发送给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接到消息并通知给其它客户端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、其它客户端接收到通知，请求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端获取最新配置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、全部客户端均获取到最新的配置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局部刷新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某些场景下（例如灰度发布），我们可能只想刷新部分微服务的配置，此时可通过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/bus/refresh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端点的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参数来定位要刷新的应用程序。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，这样消息总线上的微服务实例就会根据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参数的值来判断是否需要要刷新。其中，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指的是各个微服务的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ApplicationContext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参数也可以用来定位特定的微服务。例如：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=customers:**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，这样就可以触发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</a:t>
            </a:r>
            <a:r>
              <a:rPr lang="zh-CN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微服务所有实例的配置刷新。</a:t>
            </a:r>
          </a:p>
          <a:p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1068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22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Vertical Architecture</a:t>
            </a:r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803326" y="2880256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C62BBEE5-5D8B-4F01-ABF4-64D347970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948" y="2104962"/>
            <a:ext cx="5193036" cy="360285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D391117-672F-464A-8129-E49E08478161}"/>
              </a:ext>
            </a:extLst>
          </p:cNvPr>
          <p:cNvSpPr/>
          <p:nvPr/>
        </p:nvSpPr>
        <p:spPr>
          <a:xfrm>
            <a:off x="605986" y="2690336"/>
            <a:ext cx="4692310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zh-CN" altLang="en-US" dirty="0"/>
              <a:t> maintenance costs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Low</a:t>
            </a:r>
            <a:r>
              <a:rPr lang="en-US" altLang="zh-CN" dirty="0"/>
              <a:t> deployment efficiency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System reliability is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degraded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New feature online cycle becomes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longer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9140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37 -0.03611 L 0.7987 -0.29884 L 0.79648 -0.29514 " pathEditMode="relative" ptsTypes="AAA">
                                      <p:cBhvr>
                                        <p:cTn id="6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7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RPC Architecture</a:t>
            </a:r>
            <a:endParaRPr lang="zh-CN" altLang="en-US" dirty="0"/>
          </a:p>
        </p:txBody>
      </p: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948377" y="2656471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74148083-D7E2-43CC-A6CE-7E15D44FD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522" y="1868374"/>
            <a:ext cx="5015321" cy="405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954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0 L 0.76185 -0.1919 L 0.76185 -0.19167 L 0.76185 -0.1919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086" y="-96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SOA  Architecture</a:t>
            </a:r>
            <a:endParaRPr lang="zh-CN" altLang="en-US" dirty="0"/>
          </a:p>
        </p:txBody>
      </p: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957900" y="2656471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ECE4F35E-26F0-4065-B17D-E41045309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725" y="1595607"/>
            <a:ext cx="6842619" cy="417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7293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91 0.00093 L 0.78268 -0.24352 L 0.78268 -0.24167 " pathEditMode="relative" ptsTypes="AAA">
                                      <p:cBhvr>
                                        <p:cTn id="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5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Microservice Architecture</a:t>
            </a:r>
            <a:endParaRPr lang="zh-CN" altLang="en-US" dirty="0"/>
          </a:p>
        </p:txBody>
      </p: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1047343" y="2809174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05354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 0.00718 L 0.75495 -0.25949 " pathEditMode="relative" ptsTypes="AA">
                                      <p:cBhvr>
                                        <p:cTn id="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49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882053" y="4241322"/>
            <a:ext cx="25699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Hystrix</a:t>
            </a:r>
            <a:r>
              <a:rPr lang="en-US" altLang="zh-CN" dirty="0"/>
              <a:t> &amp; </a:t>
            </a:r>
            <a:r>
              <a:rPr lang="en-US" altLang="zh-CN" dirty="0" err="1"/>
              <a:t>Zuul</a:t>
            </a:r>
            <a:r>
              <a:rPr lang="en-US" altLang="zh-CN" dirty="0"/>
              <a:t> &amp; Config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101" y="2603088"/>
            <a:ext cx="7435279" cy="40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58330-5487-4BE2-95FF-DB748411BD54}"/>
              </a:ext>
            </a:extLst>
          </p:cNvPr>
          <p:cNvGrpSpPr/>
          <p:nvPr/>
        </p:nvGrpSpPr>
        <p:grpSpPr>
          <a:xfrm>
            <a:off x="657586" y="1457962"/>
            <a:ext cx="5344364" cy="4930871"/>
            <a:chOff x="657586" y="1457962"/>
            <a:chExt cx="5344364" cy="493087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57586" y="1457962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7586" y="3117314"/>
              <a:ext cx="5344364" cy="32715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1F1D9-58EB-47CF-8F1A-203C1EC60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9924" y="1962716"/>
              <a:ext cx="4333875" cy="1019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929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Why use a microservice gateway?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4172E0-5A41-48BB-B2FE-C601C679450E}"/>
              </a:ext>
            </a:extLst>
          </p:cNvPr>
          <p:cNvSpPr/>
          <p:nvPr/>
        </p:nvSpPr>
        <p:spPr>
          <a:xfrm>
            <a:off x="669924" y="2066187"/>
            <a:ext cx="368562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A mobile phone APP </a:t>
            </a:r>
            <a:r>
              <a:rPr lang="zh-CN" altLang="en-US" dirty="0"/>
              <a:t>that </a:t>
            </a:r>
            <a:r>
              <a:rPr lang="zh-CN" altLang="en-US" dirty="0">
                <a:solidFill>
                  <a:srgbClr val="0070C0"/>
                </a:solidFill>
              </a:rPr>
              <a:t>purchases a movie </a:t>
            </a:r>
            <a:r>
              <a:rPr lang="zh-CN" altLang="en-US" dirty="0"/>
              <a:t>may call multiple micro-service interfaces to complete the business process of purchasing a ticket.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929910-91EB-4AC6-806B-B1BDFEB88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205" y="1534804"/>
            <a:ext cx="6838950" cy="38004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15C8392-F58B-46C5-86AC-5E9018938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7" y="1591954"/>
            <a:ext cx="681990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to apply </a:t>
            </a:r>
            <a:r>
              <a:rPr lang="en-US" altLang="zh-CN" dirty="0" err="1"/>
              <a:t>Zuul</a:t>
            </a:r>
            <a:endParaRPr lang="zh-CN" altLang="en-US" dirty="0"/>
          </a:p>
        </p:txBody>
      </p:sp>
      <p:grpSp>
        <p:nvGrpSpPr>
          <p:cNvPr id="10" name="1fe1f664-17ef-4856-aa84-dc49753f0efc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66EE285-C53B-4421-A635-AA217071045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6672064" y="1941837"/>
            <a:ext cx="4840659" cy="3435677"/>
            <a:chOff x="6672064" y="1941837"/>
            <a:chExt cx="4840659" cy="3435677"/>
          </a:xfrm>
        </p:grpSpPr>
        <p:sp>
          <p:nvSpPr>
            <p:cNvPr id="11" name="îSliḑé">
              <a:extLst>
                <a:ext uri="{FF2B5EF4-FFF2-40B4-BE49-F238E27FC236}">
                  <a16:creationId xmlns:a16="http://schemas.microsoft.com/office/drawing/2014/main" id="{D2C63BFD-AD56-412B-9AB3-3CF5B33CA5EB}"/>
                </a:ext>
              </a:extLst>
            </p:cNvPr>
            <p:cNvSpPr/>
            <p:nvPr/>
          </p:nvSpPr>
          <p:spPr>
            <a:xfrm>
              <a:off x="7041000" y="1941837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ŝļidé">
              <a:extLst>
                <a:ext uri="{FF2B5EF4-FFF2-40B4-BE49-F238E27FC236}">
                  <a16:creationId xmlns:a16="http://schemas.microsoft.com/office/drawing/2014/main" id="{6636AC7A-0B45-4289-9411-A00DBD0607B5}"/>
                </a:ext>
              </a:extLst>
            </p:cNvPr>
            <p:cNvSpPr/>
            <p:nvPr/>
          </p:nvSpPr>
          <p:spPr>
            <a:xfrm>
              <a:off x="7191637" y="2097928"/>
              <a:ext cx="214542" cy="203634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9800" y="63664"/>
                  </a:moveTo>
                  <a:lnTo>
                    <a:pt x="119800" y="63664"/>
                  </a:lnTo>
                  <a:cubicBezTo>
                    <a:pt x="119800" y="66596"/>
                    <a:pt x="118405" y="69528"/>
                    <a:pt x="114219" y="69528"/>
                  </a:cubicBezTo>
                  <a:cubicBezTo>
                    <a:pt x="112823" y="69528"/>
                    <a:pt x="111428" y="68062"/>
                    <a:pt x="111428" y="68062"/>
                  </a:cubicBezTo>
                  <a:lnTo>
                    <a:pt x="111428" y="68062"/>
                  </a:lnTo>
                  <a:cubicBezTo>
                    <a:pt x="60598" y="14869"/>
                    <a:pt x="60598" y="14869"/>
                    <a:pt x="60598" y="14869"/>
                  </a:cubicBezTo>
                  <a:lnTo>
                    <a:pt x="60598" y="14869"/>
                  </a:lnTo>
                  <a:lnTo>
                    <a:pt x="60598" y="14869"/>
                  </a:lnTo>
                  <a:lnTo>
                    <a:pt x="60598" y="14869"/>
                  </a:lnTo>
                  <a:cubicBezTo>
                    <a:pt x="9966" y="68062"/>
                    <a:pt x="9966" y="68062"/>
                    <a:pt x="9966" y="68062"/>
                  </a:cubicBezTo>
                  <a:lnTo>
                    <a:pt x="9966" y="68062"/>
                  </a:lnTo>
                  <a:cubicBezTo>
                    <a:pt x="8571" y="68062"/>
                    <a:pt x="7176" y="69528"/>
                    <a:pt x="5780" y="69528"/>
                  </a:cubicBezTo>
                  <a:cubicBezTo>
                    <a:pt x="2990" y="69528"/>
                    <a:pt x="0" y="66596"/>
                    <a:pt x="0" y="63664"/>
                  </a:cubicBezTo>
                  <a:cubicBezTo>
                    <a:pt x="0" y="62198"/>
                    <a:pt x="0" y="60523"/>
                    <a:pt x="1395" y="59057"/>
                  </a:cubicBezTo>
                  <a:cubicBezTo>
                    <a:pt x="56411" y="1465"/>
                    <a:pt x="56411" y="1465"/>
                    <a:pt x="56411" y="1465"/>
                  </a:cubicBezTo>
                  <a:cubicBezTo>
                    <a:pt x="57807" y="0"/>
                    <a:pt x="59202" y="0"/>
                    <a:pt x="60598" y="0"/>
                  </a:cubicBez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cubicBezTo>
                    <a:pt x="61993" y="0"/>
                    <a:pt x="63388" y="1465"/>
                    <a:pt x="64784" y="1465"/>
                  </a:cubicBezTo>
                  <a:lnTo>
                    <a:pt x="64784" y="1465"/>
                  </a:lnTo>
                  <a:cubicBezTo>
                    <a:pt x="85913" y="25130"/>
                    <a:pt x="85913" y="25130"/>
                    <a:pt x="85913" y="25130"/>
                  </a:cubicBezTo>
                  <a:cubicBezTo>
                    <a:pt x="85913" y="19267"/>
                    <a:pt x="85913" y="19267"/>
                    <a:pt x="85913" y="19267"/>
                  </a:cubicBezTo>
                  <a:cubicBezTo>
                    <a:pt x="85913" y="16335"/>
                    <a:pt x="88903" y="13193"/>
                    <a:pt x="91694" y="13193"/>
                  </a:cubicBezTo>
                  <a:cubicBezTo>
                    <a:pt x="95880" y="13193"/>
                    <a:pt x="97275" y="16335"/>
                    <a:pt x="97275" y="19267"/>
                  </a:cubicBezTo>
                  <a:cubicBezTo>
                    <a:pt x="97275" y="36858"/>
                    <a:pt x="97275" y="36858"/>
                    <a:pt x="97275" y="36858"/>
                  </a:cubicBezTo>
                  <a:cubicBezTo>
                    <a:pt x="118405" y="59057"/>
                    <a:pt x="118405" y="59057"/>
                    <a:pt x="118405" y="59057"/>
                  </a:cubicBezTo>
                  <a:lnTo>
                    <a:pt x="118405" y="59057"/>
                  </a:lnTo>
                  <a:cubicBezTo>
                    <a:pt x="119800" y="60523"/>
                    <a:pt x="119800" y="62198"/>
                    <a:pt x="119800" y="63664"/>
                  </a:cubicBezTo>
                  <a:close/>
                  <a:moveTo>
                    <a:pt x="108438" y="72460"/>
                  </a:moveTo>
                  <a:lnTo>
                    <a:pt x="108438" y="72460"/>
                  </a:lnTo>
                  <a:cubicBezTo>
                    <a:pt x="108438" y="90261"/>
                    <a:pt x="108438" y="90261"/>
                    <a:pt x="108438" y="90261"/>
                  </a:cubicBezTo>
                  <a:cubicBezTo>
                    <a:pt x="108438" y="99057"/>
                    <a:pt x="108438" y="99057"/>
                    <a:pt x="108438" y="99057"/>
                  </a:cubicBezTo>
                  <a:cubicBezTo>
                    <a:pt x="108438" y="113926"/>
                    <a:pt x="108438" y="113926"/>
                    <a:pt x="108438" y="113926"/>
                  </a:cubicBezTo>
                  <a:cubicBezTo>
                    <a:pt x="108438" y="118324"/>
                    <a:pt x="107043" y="119790"/>
                    <a:pt x="102857" y="119790"/>
                  </a:cubicBezTo>
                  <a:cubicBezTo>
                    <a:pt x="91694" y="119790"/>
                    <a:pt x="91694" y="119790"/>
                    <a:pt x="91694" y="119790"/>
                  </a:cubicBezTo>
                  <a:cubicBezTo>
                    <a:pt x="91694" y="72460"/>
                    <a:pt x="91694" y="72460"/>
                    <a:pt x="91694" y="72460"/>
                  </a:cubicBezTo>
                  <a:cubicBezTo>
                    <a:pt x="69169" y="72460"/>
                    <a:pt x="69169" y="72460"/>
                    <a:pt x="69169" y="72460"/>
                  </a:cubicBezTo>
                  <a:cubicBezTo>
                    <a:pt x="69169" y="119790"/>
                    <a:pt x="69169" y="119790"/>
                    <a:pt x="69169" y="119790"/>
                  </a:cubicBezTo>
                  <a:cubicBezTo>
                    <a:pt x="16943" y="119790"/>
                    <a:pt x="16943" y="119790"/>
                    <a:pt x="16943" y="119790"/>
                  </a:cubicBezTo>
                  <a:cubicBezTo>
                    <a:pt x="14152" y="119790"/>
                    <a:pt x="11362" y="118324"/>
                    <a:pt x="11362" y="113926"/>
                  </a:cubicBezTo>
                  <a:cubicBezTo>
                    <a:pt x="11362" y="99057"/>
                    <a:pt x="11362" y="99057"/>
                    <a:pt x="11362" y="99057"/>
                  </a:cubicBezTo>
                  <a:cubicBezTo>
                    <a:pt x="11362" y="90261"/>
                    <a:pt x="11362" y="90261"/>
                    <a:pt x="11362" y="90261"/>
                  </a:cubicBezTo>
                  <a:cubicBezTo>
                    <a:pt x="11362" y="72460"/>
                    <a:pt x="11362" y="72460"/>
                    <a:pt x="11362" y="72460"/>
                  </a:cubicBezTo>
                  <a:cubicBezTo>
                    <a:pt x="60598" y="22198"/>
                    <a:pt x="60598" y="22198"/>
                    <a:pt x="60598" y="22198"/>
                  </a:cubicBezTo>
                  <a:lnTo>
                    <a:pt x="108438" y="72460"/>
                  </a:lnTo>
                  <a:close/>
                  <a:moveTo>
                    <a:pt x="50830" y="72460"/>
                  </a:moveTo>
                  <a:lnTo>
                    <a:pt x="50830" y="72460"/>
                  </a:lnTo>
                  <a:cubicBezTo>
                    <a:pt x="28305" y="72460"/>
                    <a:pt x="28305" y="72460"/>
                    <a:pt x="28305" y="72460"/>
                  </a:cubicBezTo>
                  <a:cubicBezTo>
                    <a:pt x="28305" y="96125"/>
                    <a:pt x="28305" y="96125"/>
                    <a:pt x="28305" y="96125"/>
                  </a:cubicBezTo>
                  <a:cubicBezTo>
                    <a:pt x="50830" y="96125"/>
                    <a:pt x="50830" y="96125"/>
                    <a:pt x="50830" y="96125"/>
                  </a:cubicBezTo>
                  <a:lnTo>
                    <a:pt x="50830" y="7246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îş1íḋê">
              <a:extLst>
                <a:ext uri="{FF2B5EF4-FFF2-40B4-BE49-F238E27FC236}">
                  <a16:creationId xmlns:a16="http://schemas.microsoft.com/office/drawing/2014/main" id="{24C2A3AD-8545-4622-8D33-D9E55DE9F7E3}"/>
                </a:ext>
              </a:extLst>
            </p:cNvPr>
            <p:cNvSpPr/>
            <p:nvPr/>
          </p:nvSpPr>
          <p:spPr>
            <a:xfrm>
              <a:off x="7041000" y="3370966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ṣ1íďe">
              <a:extLst>
                <a:ext uri="{FF2B5EF4-FFF2-40B4-BE49-F238E27FC236}">
                  <a16:creationId xmlns:a16="http://schemas.microsoft.com/office/drawing/2014/main" id="{AE700544-6653-498A-80BE-9E4E1CE69974}"/>
                </a:ext>
              </a:extLst>
            </p:cNvPr>
            <p:cNvSpPr/>
            <p:nvPr/>
          </p:nvSpPr>
          <p:spPr>
            <a:xfrm>
              <a:off x="7191637" y="3534889"/>
              <a:ext cx="214542" cy="18797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7009" y="65310"/>
                  </a:moveTo>
                  <a:lnTo>
                    <a:pt x="117009" y="65310"/>
                  </a:lnTo>
                  <a:lnTo>
                    <a:pt x="117009" y="65310"/>
                  </a:lnTo>
                  <a:cubicBezTo>
                    <a:pt x="61993" y="91073"/>
                    <a:pt x="61993" y="91073"/>
                    <a:pt x="61993" y="91073"/>
                  </a:cubicBezTo>
                  <a:lnTo>
                    <a:pt x="61993" y="91073"/>
                  </a:lnTo>
                  <a:lnTo>
                    <a:pt x="61993" y="91073"/>
                  </a:lnTo>
                  <a:lnTo>
                    <a:pt x="61993" y="91073"/>
                  </a:lnTo>
                  <a:cubicBezTo>
                    <a:pt x="61993" y="92655"/>
                    <a:pt x="60598" y="92655"/>
                    <a:pt x="60598" y="92655"/>
                  </a:cubicBezTo>
                  <a:cubicBezTo>
                    <a:pt x="59202" y="92655"/>
                    <a:pt x="59202" y="92655"/>
                    <a:pt x="57807" y="91073"/>
                  </a:cubicBezTo>
                  <a:lnTo>
                    <a:pt x="57807" y="91073"/>
                  </a:lnTo>
                  <a:lnTo>
                    <a:pt x="57807" y="91073"/>
                  </a:lnTo>
                  <a:lnTo>
                    <a:pt x="57807" y="91073"/>
                  </a:lnTo>
                  <a:cubicBezTo>
                    <a:pt x="2990" y="65310"/>
                    <a:pt x="2990" y="65310"/>
                    <a:pt x="2990" y="65310"/>
                  </a:cubicBezTo>
                  <a:lnTo>
                    <a:pt x="2990" y="65310"/>
                  </a:lnTo>
                  <a:cubicBezTo>
                    <a:pt x="1395" y="65310"/>
                    <a:pt x="0" y="62146"/>
                    <a:pt x="0" y="60564"/>
                  </a:cubicBezTo>
                  <a:cubicBezTo>
                    <a:pt x="0" y="55819"/>
                    <a:pt x="2990" y="54237"/>
                    <a:pt x="5780" y="54237"/>
                  </a:cubicBezTo>
                  <a:cubicBezTo>
                    <a:pt x="7176" y="54237"/>
                    <a:pt x="7176" y="54237"/>
                    <a:pt x="8571" y="54237"/>
                  </a:cubicBezTo>
                  <a:lnTo>
                    <a:pt x="8571" y="54237"/>
                  </a:lnTo>
                  <a:lnTo>
                    <a:pt x="8571" y="54237"/>
                  </a:lnTo>
                  <a:lnTo>
                    <a:pt x="8571" y="54237"/>
                  </a:lnTo>
                  <a:cubicBezTo>
                    <a:pt x="60598" y="78192"/>
                    <a:pt x="60598" y="78192"/>
                    <a:pt x="60598" y="78192"/>
                  </a:cubicBezTo>
                  <a:cubicBezTo>
                    <a:pt x="112823" y="54237"/>
                    <a:pt x="112823" y="54237"/>
                    <a:pt x="112823" y="54237"/>
                  </a:cubicBezTo>
                  <a:lnTo>
                    <a:pt x="112823" y="54237"/>
                  </a:lnTo>
                  <a:lnTo>
                    <a:pt x="112823" y="54237"/>
                  </a:lnTo>
                  <a:lnTo>
                    <a:pt x="112823" y="54237"/>
                  </a:lnTo>
                  <a:lnTo>
                    <a:pt x="114219" y="54237"/>
                  </a:lnTo>
                  <a:cubicBezTo>
                    <a:pt x="118405" y="54237"/>
                    <a:pt x="119800" y="55819"/>
                    <a:pt x="119800" y="60564"/>
                  </a:cubicBezTo>
                  <a:cubicBezTo>
                    <a:pt x="119800" y="62146"/>
                    <a:pt x="118405" y="65310"/>
                    <a:pt x="117009" y="65310"/>
                  </a:cubicBezTo>
                  <a:close/>
                  <a:moveTo>
                    <a:pt x="117009" y="38192"/>
                  </a:moveTo>
                  <a:lnTo>
                    <a:pt x="117009" y="38192"/>
                  </a:lnTo>
                  <a:lnTo>
                    <a:pt x="117009" y="38192"/>
                  </a:lnTo>
                  <a:cubicBezTo>
                    <a:pt x="61993" y="63728"/>
                    <a:pt x="61993" y="63728"/>
                    <a:pt x="61993" y="63728"/>
                  </a:cubicBezTo>
                  <a:lnTo>
                    <a:pt x="61993" y="63728"/>
                  </a:lnTo>
                  <a:lnTo>
                    <a:pt x="61993" y="63728"/>
                  </a:lnTo>
                  <a:lnTo>
                    <a:pt x="61993" y="63728"/>
                  </a:lnTo>
                  <a:lnTo>
                    <a:pt x="60598" y="63728"/>
                  </a:lnTo>
                  <a:cubicBezTo>
                    <a:pt x="59202" y="63728"/>
                    <a:pt x="59202" y="63728"/>
                    <a:pt x="57807" y="63728"/>
                  </a:cubicBezTo>
                  <a:lnTo>
                    <a:pt x="57807" y="63728"/>
                  </a:lnTo>
                  <a:lnTo>
                    <a:pt x="57807" y="63728"/>
                  </a:lnTo>
                  <a:lnTo>
                    <a:pt x="57807" y="63728"/>
                  </a:lnTo>
                  <a:cubicBezTo>
                    <a:pt x="2990" y="38192"/>
                    <a:pt x="2990" y="38192"/>
                    <a:pt x="2990" y="38192"/>
                  </a:cubicBezTo>
                  <a:lnTo>
                    <a:pt x="2990" y="38192"/>
                  </a:lnTo>
                  <a:cubicBezTo>
                    <a:pt x="1395" y="36610"/>
                    <a:pt x="0" y="35028"/>
                    <a:pt x="0" y="31864"/>
                  </a:cubicBezTo>
                  <a:cubicBezTo>
                    <a:pt x="0" y="30282"/>
                    <a:pt x="1395" y="27118"/>
                    <a:pt x="2990" y="27118"/>
                  </a:cubicBezTo>
                  <a:lnTo>
                    <a:pt x="2990" y="27118"/>
                  </a:lnTo>
                  <a:cubicBezTo>
                    <a:pt x="57807" y="1581"/>
                    <a:pt x="57807" y="1581"/>
                    <a:pt x="57807" y="1581"/>
                  </a:cubicBezTo>
                  <a:lnTo>
                    <a:pt x="57807" y="1581"/>
                  </a:lnTo>
                  <a:lnTo>
                    <a:pt x="57807" y="1581"/>
                  </a:lnTo>
                  <a:lnTo>
                    <a:pt x="57807" y="1581"/>
                  </a:lnTo>
                  <a:cubicBezTo>
                    <a:pt x="59202" y="0"/>
                    <a:pt x="59202" y="0"/>
                    <a:pt x="60598" y="0"/>
                  </a:cubicBezTo>
                  <a:cubicBezTo>
                    <a:pt x="60598" y="0"/>
                    <a:pt x="61993" y="0"/>
                    <a:pt x="61993" y="1581"/>
                  </a:cubicBezTo>
                  <a:lnTo>
                    <a:pt x="61993" y="1581"/>
                  </a:lnTo>
                  <a:lnTo>
                    <a:pt x="61993" y="1581"/>
                  </a:lnTo>
                  <a:lnTo>
                    <a:pt x="61993" y="1581"/>
                  </a:lnTo>
                  <a:cubicBezTo>
                    <a:pt x="117009" y="27118"/>
                    <a:pt x="117009" y="27118"/>
                    <a:pt x="117009" y="27118"/>
                  </a:cubicBezTo>
                  <a:lnTo>
                    <a:pt x="117009" y="27118"/>
                  </a:lnTo>
                  <a:cubicBezTo>
                    <a:pt x="118405" y="27118"/>
                    <a:pt x="119800" y="30282"/>
                    <a:pt x="119800" y="31864"/>
                  </a:cubicBezTo>
                  <a:cubicBezTo>
                    <a:pt x="119800" y="35028"/>
                    <a:pt x="118405" y="36610"/>
                    <a:pt x="117009" y="38192"/>
                  </a:cubicBezTo>
                  <a:close/>
                  <a:moveTo>
                    <a:pt x="5780" y="81355"/>
                  </a:moveTo>
                  <a:lnTo>
                    <a:pt x="5780" y="81355"/>
                  </a:lnTo>
                  <a:cubicBezTo>
                    <a:pt x="7176" y="81355"/>
                    <a:pt x="7176" y="81355"/>
                    <a:pt x="8571" y="81355"/>
                  </a:cubicBezTo>
                  <a:lnTo>
                    <a:pt x="8571" y="81355"/>
                  </a:lnTo>
                  <a:lnTo>
                    <a:pt x="8571" y="81355"/>
                  </a:lnTo>
                  <a:lnTo>
                    <a:pt x="8571" y="81355"/>
                  </a:lnTo>
                  <a:cubicBezTo>
                    <a:pt x="60598" y="106892"/>
                    <a:pt x="60598" y="106892"/>
                    <a:pt x="60598" y="106892"/>
                  </a:cubicBezTo>
                  <a:cubicBezTo>
                    <a:pt x="112823" y="81355"/>
                    <a:pt x="112823" y="81355"/>
                    <a:pt x="112823" y="81355"/>
                  </a:cubicBezTo>
                  <a:lnTo>
                    <a:pt x="112823" y="81355"/>
                  </a:lnTo>
                  <a:lnTo>
                    <a:pt x="112823" y="81355"/>
                  </a:lnTo>
                  <a:lnTo>
                    <a:pt x="112823" y="81355"/>
                  </a:lnTo>
                  <a:lnTo>
                    <a:pt x="114219" y="81355"/>
                  </a:lnTo>
                  <a:cubicBezTo>
                    <a:pt x="118405" y="81355"/>
                    <a:pt x="119800" y="84519"/>
                    <a:pt x="119800" y="87683"/>
                  </a:cubicBezTo>
                  <a:cubicBezTo>
                    <a:pt x="119800" y="91073"/>
                    <a:pt x="118405" y="92655"/>
                    <a:pt x="117009" y="94237"/>
                  </a:cubicBezTo>
                  <a:lnTo>
                    <a:pt x="117009" y="94237"/>
                  </a:lnTo>
                  <a:cubicBezTo>
                    <a:pt x="61993" y="119774"/>
                    <a:pt x="61993" y="119774"/>
                    <a:pt x="61993" y="119774"/>
                  </a:cubicBezTo>
                  <a:lnTo>
                    <a:pt x="61993" y="119774"/>
                  </a:lnTo>
                  <a:lnTo>
                    <a:pt x="61993" y="119774"/>
                  </a:lnTo>
                  <a:lnTo>
                    <a:pt x="61993" y="119774"/>
                  </a:lnTo>
                  <a:lnTo>
                    <a:pt x="60598" y="119774"/>
                  </a:lnTo>
                  <a:cubicBezTo>
                    <a:pt x="59202" y="119774"/>
                    <a:pt x="59202" y="119774"/>
                    <a:pt x="57807" y="119774"/>
                  </a:cubicBezTo>
                  <a:lnTo>
                    <a:pt x="57807" y="119774"/>
                  </a:lnTo>
                  <a:lnTo>
                    <a:pt x="57807" y="119774"/>
                  </a:lnTo>
                  <a:lnTo>
                    <a:pt x="57807" y="119774"/>
                  </a:lnTo>
                  <a:cubicBezTo>
                    <a:pt x="2990" y="94237"/>
                    <a:pt x="2990" y="94237"/>
                    <a:pt x="2990" y="94237"/>
                  </a:cubicBezTo>
                  <a:lnTo>
                    <a:pt x="2990" y="94237"/>
                  </a:lnTo>
                  <a:cubicBezTo>
                    <a:pt x="1395" y="92655"/>
                    <a:pt x="0" y="91073"/>
                    <a:pt x="0" y="87683"/>
                  </a:cubicBezTo>
                  <a:cubicBezTo>
                    <a:pt x="0" y="84519"/>
                    <a:pt x="2990" y="81355"/>
                    <a:pt x="5780" y="813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šḷíďé">
              <a:extLst>
                <a:ext uri="{FF2B5EF4-FFF2-40B4-BE49-F238E27FC236}">
                  <a16:creationId xmlns:a16="http://schemas.microsoft.com/office/drawing/2014/main" id="{838EAA00-3F1C-4D67-B03A-001758D43A7D}"/>
                </a:ext>
              </a:extLst>
            </p:cNvPr>
            <p:cNvSpPr/>
            <p:nvPr/>
          </p:nvSpPr>
          <p:spPr>
            <a:xfrm>
              <a:off x="7050976" y="4800095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ṡ1iḍé">
              <a:extLst>
                <a:ext uri="{FF2B5EF4-FFF2-40B4-BE49-F238E27FC236}">
                  <a16:creationId xmlns:a16="http://schemas.microsoft.com/office/drawing/2014/main" id="{2CEB49B8-776A-4DFB-91EA-D578B4BCD5C0}"/>
                </a:ext>
              </a:extLst>
            </p:cNvPr>
            <p:cNvSpPr/>
            <p:nvPr/>
          </p:nvSpPr>
          <p:spPr>
            <a:xfrm>
              <a:off x="7221971" y="4951487"/>
              <a:ext cx="173826" cy="213032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2868" y="119800"/>
                  </a:moveTo>
                  <a:lnTo>
                    <a:pt x="112868" y="119800"/>
                  </a:lnTo>
                  <a:cubicBezTo>
                    <a:pt x="6885" y="119800"/>
                    <a:pt x="6885" y="119800"/>
                    <a:pt x="6885" y="119800"/>
                  </a:cubicBezTo>
                  <a:cubicBezTo>
                    <a:pt x="1721" y="119800"/>
                    <a:pt x="0" y="117004"/>
                    <a:pt x="0" y="114209"/>
                  </a:cubicBezTo>
                  <a:cubicBezTo>
                    <a:pt x="0" y="64891"/>
                    <a:pt x="0" y="64891"/>
                    <a:pt x="0" y="64891"/>
                  </a:cubicBezTo>
                  <a:cubicBezTo>
                    <a:pt x="0" y="62096"/>
                    <a:pt x="1721" y="59101"/>
                    <a:pt x="6885" y="59101"/>
                  </a:cubicBezTo>
                  <a:cubicBezTo>
                    <a:pt x="17213" y="59101"/>
                    <a:pt x="17213" y="59101"/>
                    <a:pt x="17213" y="59101"/>
                  </a:cubicBezTo>
                  <a:cubicBezTo>
                    <a:pt x="17213" y="33743"/>
                    <a:pt x="17213" y="33743"/>
                    <a:pt x="17213" y="33743"/>
                  </a:cubicBezTo>
                  <a:cubicBezTo>
                    <a:pt x="17213" y="13976"/>
                    <a:pt x="36393" y="0"/>
                    <a:pt x="59016" y="0"/>
                  </a:cubicBezTo>
                  <a:cubicBezTo>
                    <a:pt x="83360" y="0"/>
                    <a:pt x="100573" y="13976"/>
                    <a:pt x="100573" y="33743"/>
                  </a:cubicBezTo>
                  <a:cubicBezTo>
                    <a:pt x="100573" y="36539"/>
                    <a:pt x="98852" y="39534"/>
                    <a:pt x="93688" y="39534"/>
                  </a:cubicBezTo>
                  <a:cubicBezTo>
                    <a:pt x="90245" y="39534"/>
                    <a:pt x="86803" y="36539"/>
                    <a:pt x="86803" y="33743"/>
                  </a:cubicBezTo>
                  <a:cubicBezTo>
                    <a:pt x="86803" y="21164"/>
                    <a:pt x="74754" y="11181"/>
                    <a:pt x="59016" y="11181"/>
                  </a:cubicBezTo>
                  <a:cubicBezTo>
                    <a:pt x="43278" y="11181"/>
                    <a:pt x="31229" y="21164"/>
                    <a:pt x="31229" y="33743"/>
                  </a:cubicBezTo>
                  <a:cubicBezTo>
                    <a:pt x="31229" y="59101"/>
                    <a:pt x="31229" y="59101"/>
                    <a:pt x="31229" y="59101"/>
                  </a:cubicBezTo>
                  <a:cubicBezTo>
                    <a:pt x="86803" y="59101"/>
                    <a:pt x="86803" y="59101"/>
                    <a:pt x="86803" y="59101"/>
                  </a:cubicBezTo>
                  <a:cubicBezTo>
                    <a:pt x="100573" y="59101"/>
                    <a:pt x="100573" y="59101"/>
                    <a:pt x="100573" y="59101"/>
                  </a:cubicBezTo>
                  <a:cubicBezTo>
                    <a:pt x="112868" y="59101"/>
                    <a:pt x="112868" y="59101"/>
                    <a:pt x="112868" y="59101"/>
                  </a:cubicBezTo>
                  <a:cubicBezTo>
                    <a:pt x="116311" y="59101"/>
                    <a:pt x="119754" y="62096"/>
                    <a:pt x="119754" y="64891"/>
                  </a:cubicBezTo>
                  <a:cubicBezTo>
                    <a:pt x="119754" y="114209"/>
                    <a:pt x="119754" y="114209"/>
                    <a:pt x="119754" y="114209"/>
                  </a:cubicBezTo>
                  <a:cubicBezTo>
                    <a:pt x="119754" y="117004"/>
                    <a:pt x="116311" y="119800"/>
                    <a:pt x="112868" y="119800"/>
                  </a:cubicBezTo>
                  <a:close/>
                  <a:moveTo>
                    <a:pt x="59016" y="70482"/>
                  </a:moveTo>
                  <a:lnTo>
                    <a:pt x="59016" y="70482"/>
                  </a:lnTo>
                  <a:cubicBezTo>
                    <a:pt x="52131" y="70482"/>
                    <a:pt x="45000" y="76073"/>
                    <a:pt x="45000" y="81863"/>
                  </a:cubicBezTo>
                  <a:cubicBezTo>
                    <a:pt x="45000" y="86056"/>
                    <a:pt x="48688" y="90249"/>
                    <a:pt x="52131" y="91647"/>
                  </a:cubicBezTo>
                  <a:cubicBezTo>
                    <a:pt x="52131" y="103028"/>
                    <a:pt x="52131" y="103028"/>
                    <a:pt x="52131" y="103028"/>
                  </a:cubicBezTo>
                  <a:cubicBezTo>
                    <a:pt x="52131" y="105823"/>
                    <a:pt x="55573" y="108618"/>
                    <a:pt x="59016" y="108618"/>
                  </a:cubicBezTo>
                  <a:cubicBezTo>
                    <a:pt x="64180" y="108618"/>
                    <a:pt x="65901" y="105823"/>
                    <a:pt x="65901" y="103028"/>
                  </a:cubicBezTo>
                  <a:cubicBezTo>
                    <a:pt x="65901" y="91647"/>
                    <a:pt x="65901" y="91647"/>
                    <a:pt x="65901" y="91647"/>
                  </a:cubicBezTo>
                  <a:cubicBezTo>
                    <a:pt x="71065" y="90249"/>
                    <a:pt x="72786" y="86056"/>
                    <a:pt x="72786" y="81863"/>
                  </a:cubicBezTo>
                  <a:cubicBezTo>
                    <a:pt x="72786" y="76073"/>
                    <a:pt x="67622" y="70482"/>
                    <a:pt x="59016" y="704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0A685D37-73CC-4482-992C-10B5E87093B4}"/>
                </a:ext>
              </a:extLst>
            </p:cNvPr>
            <p:cNvCxnSpPr/>
            <p:nvPr/>
          </p:nvCxnSpPr>
          <p:spPr>
            <a:xfrm>
              <a:off x="6672064" y="1982004"/>
              <a:ext cx="0" cy="33955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AE66572-FC67-4B6F-BD35-100B80538FC1}"/>
                </a:ext>
              </a:extLst>
            </p:cNvPr>
            <p:cNvCxnSpPr/>
            <p:nvPr/>
          </p:nvCxnSpPr>
          <p:spPr>
            <a:xfrm>
              <a:off x="7761000" y="2950470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5B82FF82-B3E4-45BA-8F14-5A06A20FB41E}"/>
                </a:ext>
              </a:extLst>
            </p:cNvPr>
            <p:cNvCxnSpPr/>
            <p:nvPr/>
          </p:nvCxnSpPr>
          <p:spPr>
            <a:xfrm>
              <a:off x="7761000" y="4426845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29">
            <a:extLst>
              <a:ext uri="{FF2B5EF4-FFF2-40B4-BE49-F238E27FC236}">
                <a16:creationId xmlns:a16="http://schemas.microsoft.com/office/drawing/2014/main" id="{C9A79ECE-C119-4839-B685-A5E42109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7453" y="1813982"/>
            <a:ext cx="4257675" cy="771525"/>
          </a:xfrm>
          <a:prstGeom prst="rect">
            <a:avLst/>
          </a:prstGeom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F72D600-F2AC-4DEE-B5AB-CE91DC30AF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969" y="3413059"/>
            <a:ext cx="3343275" cy="533400"/>
          </a:xfrm>
          <a:prstGeom prst="rect">
            <a:avLst/>
          </a:prstGeom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B26CBCBE-7629-4D33-895B-4B2ABD6880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6969" y="4559681"/>
            <a:ext cx="3219450" cy="1209675"/>
          </a:xfrm>
          <a:prstGeom prst="rect">
            <a:avLst/>
          </a:prstGeom>
        </p:spPr>
      </p:pic>
      <p:sp>
        <p:nvSpPr>
          <p:cNvPr id="23" name="iṥliḓê">
            <a:extLst>
              <a:ext uri="{FF2B5EF4-FFF2-40B4-BE49-F238E27FC236}">
                <a16:creationId xmlns:a16="http://schemas.microsoft.com/office/drawing/2014/main" id="{A7169049-C9B6-4FB3-91BB-C0317E84B5BD}"/>
              </a:ext>
            </a:extLst>
          </p:cNvPr>
          <p:cNvSpPr/>
          <p:nvPr/>
        </p:nvSpPr>
        <p:spPr>
          <a:xfrm>
            <a:off x="589627" y="257621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bg1"/>
                </a:solidFill>
              </a:rPr>
              <a:t>Decoupling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24" name="ïšḻîḍê">
            <a:extLst>
              <a:ext uri="{FF2B5EF4-FFF2-40B4-BE49-F238E27FC236}">
                <a16:creationId xmlns:a16="http://schemas.microsoft.com/office/drawing/2014/main" id="{D8E59EEB-870D-48EF-94B1-8117314517D6}"/>
              </a:ext>
            </a:extLst>
          </p:cNvPr>
          <p:cNvSpPr/>
          <p:nvPr/>
        </p:nvSpPr>
        <p:spPr>
          <a:xfrm>
            <a:off x="2327521" y="2544918"/>
            <a:ext cx="2167912" cy="2167912"/>
          </a:xfrm>
          <a:prstGeom prst="ellipse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Simplify</a:t>
            </a:r>
            <a:endParaRPr lang="zh-CN" altLang="en-US" sz="3200" dirty="0">
              <a:solidFill>
                <a:schemeClr val="tx1"/>
              </a:solidFill>
            </a:endParaRPr>
          </a:p>
        </p:txBody>
      </p:sp>
      <p:sp>
        <p:nvSpPr>
          <p:cNvPr id="25" name="îṡľïdê">
            <a:extLst>
              <a:ext uri="{FF2B5EF4-FFF2-40B4-BE49-F238E27FC236}">
                <a16:creationId xmlns:a16="http://schemas.microsoft.com/office/drawing/2014/main" id="{D4A659CC-222F-42CE-8E37-EB6DE8450CA0}"/>
              </a:ext>
            </a:extLst>
          </p:cNvPr>
          <p:cNvSpPr/>
          <p:nvPr/>
        </p:nvSpPr>
        <p:spPr>
          <a:xfrm>
            <a:off x="4135217" y="2457653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Convenient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984299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A3D36F-12E8-4678-95C0-68A606878699}"/>
              </a:ext>
            </a:extLst>
          </p:cNvPr>
          <p:cNvSpPr/>
          <p:nvPr/>
        </p:nvSpPr>
        <p:spPr>
          <a:xfrm>
            <a:off x="669924" y="1502322"/>
            <a:ext cx="69368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Why</a:t>
            </a:r>
            <a:r>
              <a:rPr lang="zh-CN" altLang="en-US" dirty="0"/>
              <a:t> should we manage the microservice configuration uniformly?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1CB290-8D13-4C62-BF38-6D97110C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177" y="2144280"/>
            <a:ext cx="5158823" cy="2842067"/>
          </a:xfrm>
          <a:prstGeom prst="rect">
            <a:avLst/>
          </a:prstGeom>
        </p:spPr>
      </p:pic>
      <p:grpSp>
        <p:nvGrpSpPr>
          <p:cNvPr id="6" name="713767e3-dc35-40d0-8e00-b7b14660c07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04B72C3-B3C0-47FB-9BB1-DA77FA3EA20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02110" y="2218424"/>
            <a:ext cx="10852713" cy="3040549"/>
            <a:chOff x="663292" y="1718071"/>
            <a:chExt cx="10852716" cy="3040550"/>
          </a:xfrm>
        </p:grpSpPr>
        <p:sp>
          <p:nvSpPr>
            <p:cNvPr id="7" name="ï$liḑé">
              <a:extLst>
                <a:ext uri="{FF2B5EF4-FFF2-40B4-BE49-F238E27FC236}">
                  <a16:creationId xmlns:a16="http://schemas.microsoft.com/office/drawing/2014/main" id="{0E85A53B-32F9-4076-99EE-9810EE4C8B0B}"/>
                </a:ext>
              </a:extLst>
            </p:cNvPr>
            <p:cNvSpPr/>
            <p:nvPr/>
          </p:nvSpPr>
          <p:spPr>
            <a:xfrm rot="5400000" flipV="1">
              <a:off x="4153171" y="3409135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F4B3C52-94DF-4EA7-AE5C-E1BEE46AD0A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2503662" y="3474202"/>
              <a:ext cx="1649509" cy="297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ï$ḷïḋe">
              <a:extLst>
                <a:ext uri="{FF2B5EF4-FFF2-40B4-BE49-F238E27FC236}">
                  <a16:creationId xmlns:a16="http://schemas.microsoft.com/office/drawing/2014/main" id="{B3F820DB-F916-43EC-B76F-13765AA28614}"/>
                </a:ext>
              </a:extLst>
            </p:cNvPr>
            <p:cNvSpPr/>
            <p:nvPr/>
          </p:nvSpPr>
          <p:spPr>
            <a:xfrm rot="16200000">
              <a:off x="1695921" y="3078803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iSļïḑè">
              <a:extLst>
                <a:ext uri="{FF2B5EF4-FFF2-40B4-BE49-F238E27FC236}">
                  <a16:creationId xmlns:a16="http://schemas.microsoft.com/office/drawing/2014/main" id="{D5D56A7A-18F3-45D7-A668-2CA34D3475CE}"/>
                </a:ext>
              </a:extLst>
            </p:cNvPr>
            <p:cNvSpPr/>
            <p:nvPr/>
          </p:nvSpPr>
          <p:spPr>
            <a:xfrm rot="10800000" flipV="1">
              <a:off x="1745663" y="3128266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S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367E3412-B555-4833-9BBD-6601CD7C1777}"/>
                </a:ext>
              </a:extLst>
            </p:cNvPr>
            <p:cNvCxnSpPr>
              <a:stCxn id="19" idx="0"/>
            </p:cNvCxnSpPr>
            <p:nvPr/>
          </p:nvCxnSpPr>
          <p:spPr>
            <a:xfrm rot="16200000" flipV="1">
              <a:off x="5993530" y="2649298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iṥḻîḑê">
              <a:extLst>
                <a:ext uri="{FF2B5EF4-FFF2-40B4-BE49-F238E27FC236}">
                  <a16:creationId xmlns:a16="http://schemas.microsoft.com/office/drawing/2014/main" id="{5BD901CB-BDAA-4143-B5EC-ADE69D118EC0}"/>
                </a:ext>
              </a:extLst>
            </p:cNvPr>
            <p:cNvSpPr/>
            <p:nvPr/>
          </p:nvSpPr>
          <p:spPr>
            <a:xfrm rot="16200000">
              <a:off x="4361182" y="3078505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ïsľíďe">
              <a:extLst>
                <a:ext uri="{FF2B5EF4-FFF2-40B4-BE49-F238E27FC236}">
                  <a16:creationId xmlns:a16="http://schemas.microsoft.com/office/drawing/2014/main" id="{3F15D356-8B90-49DD-BC1F-1B56303B5990}"/>
                </a:ext>
              </a:extLst>
            </p:cNvPr>
            <p:cNvSpPr/>
            <p:nvPr/>
          </p:nvSpPr>
          <p:spPr>
            <a:xfrm rot="10800000" flipV="1">
              <a:off x="4410925" y="3127969"/>
              <a:ext cx="692468" cy="69246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W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D1CAD6A-2CD5-4B67-B60F-018E7F8D76A3}"/>
                </a:ext>
              </a:extLst>
            </p:cNvPr>
            <p:cNvCxnSpPr>
              <a:stCxn id="20" idx="0"/>
            </p:cNvCxnSpPr>
            <p:nvPr/>
          </p:nvCxnSpPr>
          <p:spPr>
            <a:xfrm rot="16200000" flipV="1">
              <a:off x="8658793" y="2649297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ïşḻíďè">
              <a:extLst>
                <a:ext uri="{FF2B5EF4-FFF2-40B4-BE49-F238E27FC236}">
                  <a16:creationId xmlns:a16="http://schemas.microsoft.com/office/drawing/2014/main" id="{14DB64C5-F779-4FE1-879F-8854939C4092}"/>
                </a:ext>
              </a:extLst>
            </p:cNvPr>
            <p:cNvSpPr/>
            <p:nvPr/>
          </p:nvSpPr>
          <p:spPr>
            <a:xfrm rot="16200000">
              <a:off x="7026446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ïṡľíḓe">
              <a:extLst>
                <a:ext uri="{FF2B5EF4-FFF2-40B4-BE49-F238E27FC236}">
                  <a16:creationId xmlns:a16="http://schemas.microsoft.com/office/drawing/2014/main" id="{B278235E-D0FA-49E6-B9B6-245D5B260076}"/>
                </a:ext>
              </a:extLst>
            </p:cNvPr>
            <p:cNvSpPr/>
            <p:nvPr/>
          </p:nvSpPr>
          <p:spPr>
            <a:xfrm rot="10800000" flipV="1">
              <a:off x="7076188" y="3127968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O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îŝ1ïde">
              <a:extLst>
                <a:ext uri="{FF2B5EF4-FFF2-40B4-BE49-F238E27FC236}">
                  <a16:creationId xmlns:a16="http://schemas.microsoft.com/office/drawing/2014/main" id="{51D2A9B1-E19C-4B86-9636-E6046308187E}"/>
                </a:ext>
              </a:extLst>
            </p:cNvPr>
            <p:cNvSpPr/>
            <p:nvPr/>
          </p:nvSpPr>
          <p:spPr>
            <a:xfrm rot="16200000">
              <a:off x="9691707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8" name="ïŝḻïdé">
              <a:extLst>
                <a:ext uri="{FF2B5EF4-FFF2-40B4-BE49-F238E27FC236}">
                  <a16:creationId xmlns:a16="http://schemas.microsoft.com/office/drawing/2014/main" id="{F54A6E33-6361-44A4-98F4-563394FEF6C1}"/>
                </a:ext>
              </a:extLst>
            </p:cNvPr>
            <p:cNvSpPr/>
            <p:nvPr/>
          </p:nvSpPr>
          <p:spPr>
            <a:xfrm rot="10800000" flipV="1">
              <a:off x="9741451" y="3127967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T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isļíḋè">
              <a:extLst>
                <a:ext uri="{FF2B5EF4-FFF2-40B4-BE49-F238E27FC236}">
                  <a16:creationId xmlns:a16="http://schemas.microsoft.com/office/drawing/2014/main" id="{62FFE792-34EC-4BD8-A0FA-98FBBBB7C1A8}"/>
                </a:ext>
              </a:extLst>
            </p:cNvPr>
            <p:cNvSpPr/>
            <p:nvPr/>
          </p:nvSpPr>
          <p:spPr>
            <a:xfrm rot="16200000">
              <a:off x="6818432" y="3408838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iślídè">
              <a:extLst>
                <a:ext uri="{FF2B5EF4-FFF2-40B4-BE49-F238E27FC236}">
                  <a16:creationId xmlns:a16="http://schemas.microsoft.com/office/drawing/2014/main" id="{A77206FE-CBA7-46A2-BFA7-6795C620B64F}"/>
                </a:ext>
              </a:extLst>
            </p:cNvPr>
            <p:cNvSpPr/>
            <p:nvPr/>
          </p:nvSpPr>
          <p:spPr>
            <a:xfrm rot="16200000">
              <a:off x="9483696" y="3408837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iṧ1íďe">
              <a:extLst>
                <a:ext uri="{FF2B5EF4-FFF2-40B4-BE49-F238E27FC236}">
                  <a16:creationId xmlns:a16="http://schemas.microsoft.com/office/drawing/2014/main" id="{9061C2DC-ACE6-4B6F-84BB-3DCB5639454D}"/>
                </a:ext>
              </a:extLst>
            </p:cNvPr>
            <p:cNvSpPr txBox="1"/>
            <p:nvPr/>
          </p:nvSpPr>
          <p:spPr bwMode="auto">
            <a:xfrm>
              <a:off x="663292" y="415515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85000" lnSpcReduction="1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Centralized management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ïşḻíḑè">
              <a:extLst>
                <a:ext uri="{FF2B5EF4-FFF2-40B4-BE49-F238E27FC236}">
                  <a16:creationId xmlns:a16="http://schemas.microsoft.com/office/drawing/2014/main" id="{F2F89BA5-6038-4BF5-9A89-F0B94789A6CD}"/>
                </a:ext>
              </a:extLst>
            </p:cNvPr>
            <p:cNvSpPr txBox="1"/>
            <p:nvPr/>
          </p:nvSpPr>
          <p:spPr bwMode="auto">
            <a:xfrm>
              <a:off x="3328649" y="171807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Different environments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îṥ1ïḍè">
              <a:extLst>
                <a:ext uri="{FF2B5EF4-FFF2-40B4-BE49-F238E27FC236}">
                  <a16:creationId xmlns:a16="http://schemas.microsoft.com/office/drawing/2014/main" id="{05A04451-80A6-4A13-857F-6C92C3E53974}"/>
                </a:ext>
              </a:extLst>
            </p:cNvPr>
            <p:cNvSpPr txBox="1"/>
            <p:nvPr/>
          </p:nvSpPr>
          <p:spPr bwMode="auto">
            <a:xfrm>
              <a:off x="8659362" y="1718071"/>
              <a:ext cx="2856646" cy="67106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Automatically updated after changes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iṥḷïḓè">
              <a:extLst>
                <a:ext uri="{FF2B5EF4-FFF2-40B4-BE49-F238E27FC236}">
                  <a16:creationId xmlns:a16="http://schemas.microsoft.com/office/drawing/2014/main" id="{E10C31A6-7AD0-4AC1-8047-641910AC09F1}"/>
                </a:ext>
              </a:extLst>
            </p:cNvPr>
            <p:cNvSpPr txBox="1"/>
            <p:nvPr/>
          </p:nvSpPr>
          <p:spPr bwMode="auto">
            <a:xfrm>
              <a:off x="5994006" y="4155151"/>
              <a:ext cx="2856646" cy="60347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Dynamic adjustment during operation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E28241D5-EC80-438F-9C8E-E0FF8D4A8123}"/>
              </a:ext>
            </a:extLst>
          </p:cNvPr>
          <p:cNvSpPr/>
          <p:nvPr/>
        </p:nvSpPr>
        <p:spPr>
          <a:xfrm>
            <a:off x="669924" y="1502321"/>
            <a:ext cx="9994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configuration management of the microservice architecture has the following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requirements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26" name="灯片编号占位符 3">
            <a:extLst>
              <a:ext uri="{FF2B5EF4-FFF2-40B4-BE49-F238E27FC236}">
                <a16:creationId xmlns:a16="http://schemas.microsoft.com/office/drawing/2014/main" id="{0D2EEDDD-F72A-4A29-98AC-0D389268B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240463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21</a:t>
            </a:fld>
            <a:endParaRPr lang="zh-CN" altLang="en-US"/>
          </a:p>
        </p:txBody>
      </p:sp>
      <p:grpSp>
        <p:nvGrpSpPr>
          <p:cNvPr id="28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2A73E72-04B6-41CB-84A8-905400270A2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20195" y="3540804"/>
            <a:ext cx="8917275" cy="2608596"/>
            <a:chOff x="1720195" y="3540804"/>
            <a:chExt cx="8917275" cy="2608596"/>
          </a:xfrm>
        </p:grpSpPr>
        <p:sp>
          <p:nvSpPr>
            <p:cNvPr id="30" name="ísľíḍè">
              <a:extLst>
                <a:ext uri="{FF2B5EF4-FFF2-40B4-BE49-F238E27FC236}">
                  <a16:creationId xmlns:a16="http://schemas.microsoft.com/office/drawing/2014/main" id="{CF3FD215-64C1-46D1-BB2B-BA8CAE333D6D}"/>
                </a:ext>
              </a:extLst>
            </p:cNvPr>
            <p:cNvSpPr/>
            <p:nvPr/>
          </p:nvSpPr>
          <p:spPr>
            <a:xfrm>
              <a:off x="5388440" y="3613058"/>
              <a:ext cx="1152128" cy="1079874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2" name="îṣlïḍe">
              <a:extLst>
                <a:ext uri="{FF2B5EF4-FFF2-40B4-BE49-F238E27FC236}">
                  <a16:creationId xmlns:a16="http://schemas.microsoft.com/office/drawing/2014/main" id="{BF6657A7-9E70-4E14-B151-5638FC2D482E}"/>
                </a:ext>
              </a:extLst>
            </p:cNvPr>
            <p:cNvSpPr/>
            <p:nvPr/>
          </p:nvSpPr>
          <p:spPr>
            <a:xfrm>
              <a:off x="5724906" y="3917021"/>
              <a:ext cx="479201" cy="428349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$ļîḋé">
              <a:extLst>
                <a:ext uri="{FF2B5EF4-FFF2-40B4-BE49-F238E27FC236}">
                  <a16:creationId xmlns:a16="http://schemas.microsoft.com/office/drawing/2014/main" id="{96FFAE33-5006-4C62-9876-96F7AAAD6186}"/>
                </a:ext>
              </a:extLst>
            </p:cNvPr>
            <p:cNvSpPr/>
            <p:nvPr/>
          </p:nvSpPr>
          <p:spPr>
            <a:xfrm>
              <a:off x="1720195" y="3613058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5" name="i$lïde">
              <a:extLst>
                <a:ext uri="{FF2B5EF4-FFF2-40B4-BE49-F238E27FC236}">
                  <a16:creationId xmlns:a16="http://schemas.microsoft.com/office/drawing/2014/main" id="{190CEB5B-B008-424B-8BE6-29B41129A2AF}"/>
                </a:ext>
              </a:extLst>
            </p:cNvPr>
            <p:cNvSpPr/>
            <p:nvPr/>
          </p:nvSpPr>
          <p:spPr>
            <a:xfrm>
              <a:off x="2056661" y="396061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6" name="îṡļîḍè">
              <a:extLst>
                <a:ext uri="{FF2B5EF4-FFF2-40B4-BE49-F238E27FC236}">
                  <a16:creationId xmlns:a16="http://schemas.microsoft.com/office/drawing/2014/main" id="{11AA0926-2E70-4D21-AE8C-A3494D74DC9E}"/>
                </a:ext>
              </a:extLst>
            </p:cNvPr>
            <p:cNvSpPr/>
            <p:nvPr/>
          </p:nvSpPr>
          <p:spPr>
            <a:xfrm>
              <a:off x="9485342" y="3540804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sḻíde">
              <a:extLst>
                <a:ext uri="{FF2B5EF4-FFF2-40B4-BE49-F238E27FC236}">
                  <a16:creationId xmlns:a16="http://schemas.microsoft.com/office/drawing/2014/main" id="{21B067C4-EF8C-4D0D-B1D4-BC3BE1766FD5}"/>
                </a:ext>
              </a:extLst>
            </p:cNvPr>
            <p:cNvSpPr/>
            <p:nvPr/>
          </p:nvSpPr>
          <p:spPr>
            <a:xfrm>
              <a:off x="9821808" y="3888361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78750B0-1D52-4DBE-B854-B30E8CD0D265}"/>
                </a:ext>
              </a:extLst>
            </p:cNvPr>
            <p:cNvCxnSpPr/>
            <p:nvPr/>
          </p:nvCxnSpPr>
          <p:spPr>
            <a:xfrm>
              <a:off x="4586644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2905A00-3037-4E1D-A3DB-3082AC492792}"/>
                </a:ext>
              </a:extLst>
            </p:cNvPr>
            <p:cNvCxnSpPr/>
            <p:nvPr/>
          </p:nvCxnSpPr>
          <p:spPr>
            <a:xfrm>
              <a:off x="7612057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21">
            <a:extLst>
              <a:ext uri="{FF2B5EF4-FFF2-40B4-BE49-F238E27FC236}">
                <a16:creationId xmlns:a16="http://schemas.microsoft.com/office/drawing/2014/main" id="{61702D32-083E-416F-9376-EB8FD9D53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67" y="5032084"/>
            <a:ext cx="4057650" cy="838200"/>
          </a:xfrm>
          <a:prstGeom prst="rect">
            <a:avLst/>
          </a:prstGeom>
        </p:spPr>
      </p:pic>
      <p:pic>
        <p:nvPicPr>
          <p:cNvPr id="41" name="Picture 22">
            <a:extLst>
              <a:ext uri="{FF2B5EF4-FFF2-40B4-BE49-F238E27FC236}">
                <a16:creationId xmlns:a16="http://schemas.microsoft.com/office/drawing/2014/main" id="{3EE7FE24-CC84-4015-AADA-9777FC211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287" y="4694244"/>
            <a:ext cx="3505200" cy="1752600"/>
          </a:xfrm>
          <a:prstGeom prst="rect">
            <a:avLst/>
          </a:prstGeom>
        </p:spPr>
      </p:pic>
      <p:pic>
        <p:nvPicPr>
          <p:cNvPr id="42" name="Picture 23">
            <a:extLst>
              <a:ext uri="{FF2B5EF4-FFF2-40B4-BE49-F238E27FC236}">
                <a16:creationId xmlns:a16="http://schemas.microsoft.com/office/drawing/2014/main" id="{0917CD27-8124-4BD7-B734-2F32428395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655" y="5056425"/>
            <a:ext cx="2705100" cy="590550"/>
          </a:xfrm>
          <a:prstGeom prst="rect">
            <a:avLst/>
          </a:prstGeom>
        </p:spPr>
      </p:pic>
      <p:pic>
        <p:nvPicPr>
          <p:cNvPr id="43" name="Picture 24">
            <a:extLst>
              <a:ext uri="{FF2B5EF4-FFF2-40B4-BE49-F238E27FC236}">
                <a16:creationId xmlns:a16="http://schemas.microsoft.com/office/drawing/2014/main" id="{EE0A6DD0-5A38-400A-8AAA-1FFEE2B64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1611" y="1058805"/>
            <a:ext cx="6186590" cy="249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66035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Client config</a:t>
            </a:r>
            <a:endParaRPr lang="zh-CN" altLang="en-US" dirty="0"/>
          </a:p>
        </p:txBody>
      </p:sp>
      <p:grpSp>
        <p:nvGrpSpPr>
          <p:cNvPr id="5" name="1dc454a8-13c3-4d20-be3a-b92f52a2e27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943FC4E-4104-407B-9FAE-2FC1354BAEB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152302" y="1314000"/>
            <a:ext cx="7257870" cy="4678174"/>
            <a:chOff x="4152302" y="1314000"/>
            <a:chExt cx="7257870" cy="4678174"/>
          </a:xfrm>
        </p:grpSpPr>
        <p:sp>
          <p:nvSpPr>
            <p:cNvPr id="19" name="ïslïḍe">
              <a:extLst>
                <a:ext uri="{FF2B5EF4-FFF2-40B4-BE49-F238E27FC236}">
                  <a16:creationId xmlns:a16="http://schemas.microsoft.com/office/drawing/2014/main" id="{FCE2A8BE-D6B1-4FD9-8B57-F7404B03B456}"/>
                </a:ext>
              </a:extLst>
            </p:cNvPr>
            <p:cNvSpPr/>
            <p:nvPr/>
          </p:nvSpPr>
          <p:spPr>
            <a:xfrm>
              <a:off x="8134172" y="2914403"/>
              <a:ext cx="3276000" cy="399673"/>
            </a:xfrm>
            <a:prstGeom prst="rect">
              <a:avLst/>
            </a:prstGeom>
          </p:spPr>
          <p:txBody>
            <a:bodyPr wrap="none" lIns="90000" tIns="46800" rIns="90000" bIns="46800" anchor="b" anchorCtr="0">
              <a:noAutofit/>
            </a:bodyPr>
            <a:lstStyle/>
            <a:p>
              <a:pPr lvl="0" defTabSz="914378">
                <a:defRPr/>
              </a:pPr>
              <a:r>
                <a:rPr lang="en-US" b="1" dirty="0" err="1"/>
                <a:t>application.</a:t>
              </a:r>
              <a:r>
                <a:rPr lang="en-US" altLang="zh-CN" b="1" dirty="0" err="1"/>
                <a:t>yml</a:t>
              </a:r>
              <a:r>
                <a:rPr lang="en-US" altLang="zh-CN" b="1" dirty="0"/>
                <a:t>  --&gt;</a:t>
              </a:r>
              <a:endParaRPr lang="en-US" b="1" dirty="0"/>
            </a:p>
            <a:p>
              <a:pPr lvl="0" defTabSz="914378">
                <a:defRPr/>
              </a:pPr>
              <a:r>
                <a:rPr lang="en-US" b="1" dirty="0" err="1"/>
                <a:t>bootstrap.yml</a:t>
              </a:r>
              <a:r>
                <a:rPr lang="en-US" b="1" dirty="0"/>
                <a:t> </a:t>
              </a:r>
              <a:endParaRPr lang="zh-CN" altLang="en-US" b="1" dirty="0"/>
            </a:p>
          </p:txBody>
        </p:sp>
        <p:grpSp>
          <p:nvGrpSpPr>
            <p:cNvPr id="10" name="iśľïḍè">
              <a:extLst>
                <a:ext uri="{FF2B5EF4-FFF2-40B4-BE49-F238E27FC236}">
                  <a16:creationId xmlns:a16="http://schemas.microsoft.com/office/drawing/2014/main" id="{67859611-949A-4B4C-9D21-18B778E5E8DB}"/>
                </a:ext>
              </a:extLst>
            </p:cNvPr>
            <p:cNvGrpSpPr/>
            <p:nvPr/>
          </p:nvGrpSpPr>
          <p:grpSpPr>
            <a:xfrm>
              <a:off x="4152302" y="1314000"/>
              <a:ext cx="3887396" cy="4678174"/>
              <a:chOff x="4152302" y="823213"/>
              <a:chExt cx="3887396" cy="4678174"/>
            </a:xfrm>
          </p:grpSpPr>
          <p:sp>
            <p:nvSpPr>
              <p:cNvPr id="11" name="işļîḍé">
                <a:extLst>
                  <a:ext uri="{FF2B5EF4-FFF2-40B4-BE49-F238E27FC236}">
                    <a16:creationId xmlns:a16="http://schemas.microsoft.com/office/drawing/2014/main" id="{E30FCAC6-0DCF-4ADC-9DED-2B52651A0DF7}"/>
                  </a:ext>
                </a:extLst>
              </p:cNvPr>
              <p:cNvSpPr/>
              <p:nvPr/>
            </p:nvSpPr>
            <p:spPr bwMode="auto">
              <a:xfrm>
                <a:off x="6745066" y="1021948"/>
                <a:ext cx="1294632" cy="3408031"/>
              </a:xfrm>
              <a:custGeom>
                <a:avLst/>
                <a:gdLst>
                  <a:gd name="T0" fmla="*/ 64 w 177"/>
                  <a:gd name="T1" fmla="*/ 433 h 468"/>
                  <a:gd name="T2" fmla="*/ 155 w 177"/>
                  <a:gd name="T3" fmla="*/ 98 h 468"/>
                  <a:gd name="T4" fmla="*/ 168 w 177"/>
                  <a:gd name="T5" fmla="*/ 50 h 468"/>
                  <a:gd name="T6" fmla="*/ 114 w 177"/>
                  <a:gd name="T7" fmla="*/ 35 h 468"/>
                  <a:gd name="T8" fmla="*/ 23 w 177"/>
                  <a:gd name="T9" fmla="*/ 370 h 468"/>
                  <a:gd name="T10" fmla="*/ 10 w 177"/>
                  <a:gd name="T11" fmla="*/ 418 h 468"/>
                  <a:gd name="T12" fmla="*/ 64 w 177"/>
                  <a:gd name="T13" fmla="*/ 43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7" h="468">
                    <a:moveTo>
                      <a:pt x="64" y="433"/>
                    </a:moveTo>
                    <a:cubicBezTo>
                      <a:pt x="94" y="321"/>
                      <a:pt x="124" y="210"/>
                      <a:pt x="155" y="98"/>
                    </a:cubicBezTo>
                    <a:cubicBezTo>
                      <a:pt x="159" y="82"/>
                      <a:pt x="163" y="66"/>
                      <a:pt x="168" y="50"/>
                    </a:cubicBezTo>
                    <a:cubicBezTo>
                      <a:pt x="177" y="15"/>
                      <a:pt x="123" y="0"/>
                      <a:pt x="114" y="35"/>
                    </a:cubicBezTo>
                    <a:cubicBezTo>
                      <a:pt x="83" y="147"/>
                      <a:pt x="53" y="259"/>
                      <a:pt x="23" y="370"/>
                    </a:cubicBezTo>
                    <a:cubicBezTo>
                      <a:pt x="18" y="386"/>
                      <a:pt x="14" y="402"/>
                      <a:pt x="10" y="418"/>
                    </a:cubicBezTo>
                    <a:cubicBezTo>
                      <a:pt x="0" y="453"/>
                      <a:pt x="54" y="468"/>
                      <a:pt x="64" y="43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" name="iṥ1ïďê">
                <a:extLst>
                  <a:ext uri="{FF2B5EF4-FFF2-40B4-BE49-F238E27FC236}">
                    <a16:creationId xmlns:a16="http://schemas.microsoft.com/office/drawing/2014/main" id="{6ABFACC9-9917-463A-8218-D5F465B9F48C}"/>
                  </a:ext>
                </a:extLst>
              </p:cNvPr>
              <p:cNvSpPr/>
              <p:nvPr/>
            </p:nvSpPr>
            <p:spPr bwMode="auto">
              <a:xfrm>
                <a:off x="6839540" y="823213"/>
                <a:ext cx="409384" cy="3418529"/>
              </a:xfrm>
              <a:custGeom>
                <a:avLst/>
                <a:gdLst>
                  <a:gd name="T0" fmla="*/ 56 w 56"/>
                  <a:gd name="T1" fmla="*/ 432 h 469"/>
                  <a:gd name="T2" fmla="*/ 56 w 56"/>
                  <a:gd name="T3" fmla="*/ 85 h 469"/>
                  <a:gd name="T4" fmla="*/ 56 w 56"/>
                  <a:gd name="T5" fmla="*/ 36 h 469"/>
                  <a:gd name="T6" fmla="*/ 0 w 56"/>
                  <a:gd name="T7" fmla="*/ 36 h 469"/>
                  <a:gd name="T8" fmla="*/ 0 w 56"/>
                  <a:gd name="T9" fmla="*/ 383 h 469"/>
                  <a:gd name="T10" fmla="*/ 0 w 56"/>
                  <a:gd name="T11" fmla="*/ 432 h 469"/>
                  <a:gd name="T12" fmla="*/ 56 w 56"/>
                  <a:gd name="T13" fmla="*/ 432 h 4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" h="469">
                    <a:moveTo>
                      <a:pt x="56" y="432"/>
                    </a:moveTo>
                    <a:cubicBezTo>
                      <a:pt x="56" y="317"/>
                      <a:pt x="56" y="201"/>
                      <a:pt x="56" y="85"/>
                    </a:cubicBezTo>
                    <a:cubicBezTo>
                      <a:pt x="56" y="69"/>
                      <a:pt x="56" y="52"/>
                      <a:pt x="56" y="36"/>
                    </a:cubicBezTo>
                    <a:cubicBezTo>
                      <a:pt x="56" y="0"/>
                      <a:pt x="0" y="0"/>
                      <a:pt x="0" y="36"/>
                    </a:cubicBezTo>
                    <a:cubicBezTo>
                      <a:pt x="0" y="151"/>
                      <a:pt x="0" y="267"/>
                      <a:pt x="0" y="383"/>
                    </a:cubicBezTo>
                    <a:cubicBezTo>
                      <a:pt x="0" y="399"/>
                      <a:pt x="0" y="416"/>
                      <a:pt x="0" y="432"/>
                    </a:cubicBezTo>
                    <a:cubicBezTo>
                      <a:pt x="0" y="469"/>
                      <a:pt x="56" y="469"/>
                      <a:pt x="56" y="4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" name="ï$liḋê">
                <a:extLst>
                  <a:ext uri="{FF2B5EF4-FFF2-40B4-BE49-F238E27FC236}">
                    <a16:creationId xmlns:a16="http://schemas.microsoft.com/office/drawing/2014/main" id="{012C66FE-156D-4362-ACEC-F821CA5A3112}"/>
                  </a:ext>
                </a:extLst>
              </p:cNvPr>
              <p:cNvSpPr/>
              <p:nvPr/>
            </p:nvSpPr>
            <p:spPr>
              <a:xfrm>
                <a:off x="6075585" y="1131760"/>
                <a:ext cx="943367" cy="2127593"/>
              </a:xfrm>
              <a:custGeom>
                <a:avLst/>
                <a:gdLst>
                  <a:gd name="connsiteX0" fmla="*/ 173278 w 709175"/>
                  <a:gd name="connsiteY0" fmla="*/ 314 h 1599415"/>
                  <a:gd name="connsiteX1" fmla="*/ 301695 w 709175"/>
                  <a:gd name="connsiteY1" fmla="*/ 109055 h 1599415"/>
                  <a:gd name="connsiteX2" fmla="*/ 680133 w 709175"/>
                  <a:gd name="connsiteY2" fmla="*/ 1499569 h 1599415"/>
                  <a:gd name="connsiteX3" fmla="*/ 704814 w 709175"/>
                  <a:gd name="connsiteY3" fmla="*/ 1584423 h 1599415"/>
                  <a:gd name="connsiteX4" fmla="*/ 709175 w 709175"/>
                  <a:gd name="connsiteY4" fmla="*/ 1599415 h 1599415"/>
                  <a:gd name="connsiteX5" fmla="*/ 391067 w 709175"/>
                  <a:gd name="connsiteY5" fmla="*/ 1599415 h 1599415"/>
                  <a:gd name="connsiteX6" fmla="*/ 386706 w 709175"/>
                  <a:gd name="connsiteY6" fmla="*/ 1584423 h 1599415"/>
                  <a:gd name="connsiteX7" fmla="*/ 362026 w 709175"/>
                  <a:gd name="connsiteY7" fmla="*/ 1499569 h 1599415"/>
                  <a:gd name="connsiteX8" fmla="*/ 76827 w 709175"/>
                  <a:gd name="connsiteY8" fmla="*/ 453946 h 1599415"/>
                  <a:gd name="connsiteX9" fmla="*/ 5527 w 709175"/>
                  <a:gd name="connsiteY9" fmla="*/ 191172 h 1599415"/>
                  <a:gd name="connsiteX10" fmla="*/ 173278 w 709175"/>
                  <a:gd name="connsiteY10" fmla="*/ 314 h 1599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175" h="1599415">
                    <a:moveTo>
                      <a:pt x="173278" y="314"/>
                    </a:moveTo>
                    <a:cubicBezTo>
                      <a:pt x="229967" y="3843"/>
                      <a:pt x="283184" y="37203"/>
                      <a:pt x="301695" y="109055"/>
                    </a:cubicBezTo>
                    <a:cubicBezTo>
                      <a:pt x="427841" y="574385"/>
                      <a:pt x="553987" y="1034240"/>
                      <a:pt x="680133" y="1499569"/>
                    </a:cubicBezTo>
                    <a:cubicBezTo>
                      <a:pt x="688360" y="1526941"/>
                      <a:pt x="696587" y="1555682"/>
                      <a:pt x="704814" y="1584423"/>
                    </a:cubicBezTo>
                    <a:lnTo>
                      <a:pt x="709175" y="1599415"/>
                    </a:lnTo>
                    <a:lnTo>
                      <a:pt x="391067" y="1599415"/>
                    </a:lnTo>
                    <a:lnTo>
                      <a:pt x="386706" y="1584423"/>
                    </a:lnTo>
                    <a:cubicBezTo>
                      <a:pt x="378480" y="1555682"/>
                      <a:pt x="370253" y="1526941"/>
                      <a:pt x="362026" y="1499569"/>
                    </a:cubicBezTo>
                    <a:cubicBezTo>
                      <a:pt x="268788" y="1149203"/>
                      <a:pt x="175549" y="804312"/>
                      <a:pt x="76827" y="453946"/>
                    </a:cubicBezTo>
                    <a:cubicBezTo>
                      <a:pt x="54888" y="366355"/>
                      <a:pt x="32950" y="278764"/>
                      <a:pt x="5527" y="191172"/>
                    </a:cubicBezTo>
                    <a:cubicBezTo>
                      <a:pt x="-25324" y="71418"/>
                      <a:pt x="78797" y="-5566"/>
                      <a:pt x="173278" y="31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" name="íṥļïḍé">
                <a:extLst>
                  <a:ext uri="{FF2B5EF4-FFF2-40B4-BE49-F238E27FC236}">
                    <a16:creationId xmlns:a16="http://schemas.microsoft.com/office/drawing/2014/main" id="{969864EF-D245-497D-AC4F-C93DD1DAF63A}"/>
                  </a:ext>
                </a:extLst>
              </p:cNvPr>
              <p:cNvSpPr/>
              <p:nvPr/>
            </p:nvSpPr>
            <p:spPr bwMode="auto">
              <a:xfrm>
                <a:off x="4152302" y="2243812"/>
                <a:ext cx="3128110" cy="3257575"/>
              </a:xfrm>
              <a:custGeom>
                <a:avLst/>
                <a:gdLst>
                  <a:gd name="T0" fmla="*/ 116 w 428"/>
                  <a:gd name="T1" fmla="*/ 116 h 447"/>
                  <a:gd name="T2" fmla="*/ 286 w 428"/>
                  <a:gd name="T3" fmla="*/ 97 h 447"/>
                  <a:gd name="T4" fmla="*/ 363 w 428"/>
                  <a:gd name="T5" fmla="*/ 221 h 447"/>
                  <a:gd name="T6" fmla="*/ 143 w 428"/>
                  <a:gd name="T7" fmla="*/ 358 h 447"/>
                  <a:gd name="T8" fmla="*/ 67 w 428"/>
                  <a:gd name="T9" fmla="*/ 208 h 447"/>
                  <a:gd name="T10" fmla="*/ 7 w 428"/>
                  <a:gd name="T11" fmla="*/ 208 h 447"/>
                  <a:gd name="T12" fmla="*/ 95 w 428"/>
                  <a:gd name="T13" fmla="*/ 398 h 447"/>
                  <a:gd name="T14" fmla="*/ 307 w 428"/>
                  <a:gd name="T15" fmla="*/ 415 h 447"/>
                  <a:gd name="T16" fmla="*/ 423 w 428"/>
                  <a:gd name="T17" fmla="*/ 240 h 447"/>
                  <a:gd name="T18" fmla="*/ 330 w 428"/>
                  <a:gd name="T19" fmla="*/ 53 h 447"/>
                  <a:gd name="T20" fmla="*/ 74 w 428"/>
                  <a:gd name="T21" fmla="*/ 74 h 447"/>
                  <a:gd name="T22" fmla="*/ 116 w 428"/>
                  <a:gd name="T23" fmla="*/ 116 h 4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28" h="447">
                    <a:moveTo>
                      <a:pt x="116" y="116"/>
                    </a:moveTo>
                    <a:cubicBezTo>
                      <a:pt x="163" y="75"/>
                      <a:pt x="231" y="67"/>
                      <a:pt x="286" y="97"/>
                    </a:cubicBezTo>
                    <a:cubicBezTo>
                      <a:pt x="331" y="122"/>
                      <a:pt x="361" y="169"/>
                      <a:pt x="363" y="221"/>
                    </a:cubicBezTo>
                    <a:cubicBezTo>
                      <a:pt x="368" y="334"/>
                      <a:pt x="244" y="414"/>
                      <a:pt x="143" y="358"/>
                    </a:cubicBezTo>
                    <a:cubicBezTo>
                      <a:pt x="89" y="328"/>
                      <a:pt x="61" y="269"/>
                      <a:pt x="67" y="208"/>
                    </a:cubicBezTo>
                    <a:cubicBezTo>
                      <a:pt x="71" y="169"/>
                      <a:pt x="11" y="170"/>
                      <a:pt x="7" y="208"/>
                    </a:cubicBezTo>
                    <a:cubicBezTo>
                      <a:pt x="0" y="282"/>
                      <a:pt x="34" y="355"/>
                      <a:pt x="95" y="398"/>
                    </a:cubicBezTo>
                    <a:cubicBezTo>
                      <a:pt x="156" y="442"/>
                      <a:pt x="239" y="447"/>
                      <a:pt x="307" y="415"/>
                    </a:cubicBezTo>
                    <a:cubicBezTo>
                      <a:pt x="374" y="383"/>
                      <a:pt x="418" y="314"/>
                      <a:pt x="423" y="240"/>
                    </a:cubicBezTo>
                    <a:cubicBezTo>
                      <a:pt x="428" y="166"/>
                      <a:pt x="391" y="94"/>
                      <a:pt x="330" y="53"/>
                    </a:cubicBezTo>
                    <a:cubicBezTo>
                      <a:pt x="250" y="0"/>
                      <a:pt x="145" y="12"/>
                      <a:pt x="74" y="74"/>
                    </a:cubicBezTo>
                    <a:cubicBezTo>
                      <a:pt x="44" y="99"/>
                      <a:pt x="87" y="142"/>
                      <a:pt x="116" y="11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" name="iSļïḍê">
                <a:extLst>
                  <a:ext uri="{FF2B5EF4-FFF2-40B4-BE49-F238E27FC236}">
                    <a16:creationId xmlns:a16="http://schemas.microsoft.com/office/drawing/2014/main" id="{E5327339-8081-4801-AA7F-D52B5253BD07}"/>
                  </a:ext>
                </a:extLst>
              </p:cNvPr>
              <p:cNvSpPr/>
              <p:nvPr/>
            </p:nvSpPr>
            <p:spPr bwMode="auto">
              <a:xfrm>
                <a:off x="5167211" y="3427884"/>
                <a:ext cx="1029534" cy="952486"/>
              </a:xfrm>
              <a:custGeom>
                <a:avLst/>
                <a:gdLst/>
                <a:ahLst/>
                <a:cxnLst>
                  <a:cxn ang="0">
                    <a:pos x="39" y="36"/>
                  </a:cxn>
                  <a:cxn ang="0">
                    <a:pos x="41" y="44"/>
                  </a:cxn>
                  <a:cxn ang="0">
                    <a:pos x="35" y="50"/>
                  </a:cxn>
                  <a:cxn ang="0">
                    <a:pos x="27" y="53"/>
                  </a:cxn>
                  <a:cxn ang="0">
                    <a:pos x="18" y="53"/>
                  </a:cxn>
                  <a:cxn ang="0">
                    <a:pos x="11" y="50"/>
                  </a:cxn>
                  <a:cxn ang="0">
                    <a:pos x="4" y="44"/>
                  </a:cxn>
                  <a:cxn ang="0">
                    <a:pos x="6" y="36"/>
                  </a:cxn>
                  <a:cxn ang="0">
                    <a:pos x="0" y="28"/>
                  </a:cxn>
                  <a:cxn ang="0">
                    <a:pos x="7" y="23"/>
                  </a:cxn>
                  <a:cxn ang="0">
                    <a:pos x="4" y="18"/>
                  </a:cxn>
                  <a:cxn ang="0">
                    <a:pos x="15" y="16"/>
                  </a:cxn>
                  <a:cxn ang="0">
                    <a:pos x="19" y="8"/>
                  </a:cxn>
                  <a:cxn ang="0">
                    <a:pos x="28" y="15"/>
                  </a:cxn>
                  <a:cxn ang="0">
                    <a:pos x="35" y="12"/>
                  </a:cxn>
                  <a:cxn ang="0">
                    <a:pos x="41" y="19"/>
                  </a:cxn>
                  <a:cxn ang="0">
                    <a:pos x="45" y="27"/>
                  </a:cxn>
                  <a:cxn ang="0">
                    <a:pos x="23" y="22"/>
                  </a:cxn>
                  <a:cxn ang="0">
                    <a:pos x="32" y="31"/>
                  </a:cxn>
                  <a:cxn ang="0">
                    <a:pos x="63" y="16"/>
                  </a:cxn>
                  <a:cxn ang="0">
                    <a:pos x="64" y="24"/>
                  </a:cxn>
                  <a:cxn ang="0">
                    <a:pos x="55" y="22"/>
                  </a:cxn>
                  <a:cxn ang="0">
                    <a:pos x="46" y="24"/>
                  </a:cxn>
                  <a:cxn ang="0">
                    <a:pos x="46" y="16"/>
                  </a:cxn>
                  <a:cxn ang="0">
                    <a:pos x="46" y="9"/>
                  </a:cxn>
                  <a:cxn ang="0">
                    <a:pos x="46" y="2"/>
                  </a:cxn>
                  <a:cxn ang="0">
                    <a:pos x="55" y="4"/>
                  </a:cxn>
                  <a:cxn ang="0">
                    <a:pos x="59" y="0"/>
                  </a:cxn>
                  <a:cxn ang="0">
                    <a:pos x="62" y="7"/>
                  </a:cxn>
                  <a:cxn ang="0">
                    <a:pos x="68" y="15"/>
                  </a:cxn>
                  <a:cxn ang="0">
                    <a:pos x="62" y="55"/>
                  </a:cxn>
                  <a:cxn ang="0">
                    <a:pos x="59" y="63"/>
                  </a:cxn>
                  <a:cxn ang="0">
                    <a:pos x="54" y="59"/>
                  </a:cxn>
                  <a:cxn ang="0">
                    <a:pos x="45" y="60"/>
                  </a:cxn>
                  <a:cxn ang="0">
                    <a:pos x="41" y="52"/>
                  </a:cxn>
                  <a:cxn ang="0">
                    <a:pos x="47" y="44"/>
                  </a:cxn>
                  <a:cxn ang="0">
                    <a:pos x="50" y="36"/>
                  </a:cxn>
                  <a:cxn ang="0">
                    <a:pos x="56" y="40"/>
                  </a:cxn>
                  <a:cxn ang="0">
                    <a:pos x="64" y="39"/>
                  </a:cxn>
                  <a:cxn ang="0">
                    <a:pos x="63" y="46"/>
                  </a:cxn>
                  <a:cxn ang="0">
                    <a:pos x="55" y="8"/>
                  </a:cxn>
                  <a:cxn ang="0">
                    <a:pos x="59" y="13"/>
                  </a:cxn>
                  <a:cxn ang="0">
                    <a:pos x="50" y="49"/>
                  </a:cxn>
                  <a:cxn ang="0">
                    <a:pos x="55" y="45"/>
                  </a:cxn>
                </a:cxnLst>
                <a:rect l="0" t="0" r="r" b="b"/>
                <a:pathLst>
                  <a:path w="68" h="63">
                    <a:moveTo>
                      <a:pt x="45" y="35"/>
                    </a:moveTo>
                    <a:cubicBezTo>
                      <a:pt x="45" y="35"/>
                      <a:pt x="45" y="36"/>
                      <a:pt x="45" y="36"/>
                    </a:cubicBezTo>
                    <a:cubicBezTo>
                      <a:pt x="39" y="36"/>
                      <a:pt x="39" y="36"/>
                      <a:pt x="39" y="36"/>
                    </a:cubicBezTo>
                    <a:cubicBezTo>
                      <a:pt x="39" y="37"/>
                      <a:pt x="38" y="38"/>
                      <a:pt x="38" y="39"/>
                    </a:cubicBezTo>
                    <a:cubicBezTo>
                      <a:pt x="39" y="41"/>
                      <a:pt x="40" y="42"/>
                      <a:pt x="41" y="43"/>
                    </a:cubicBezTo>
                    <a:cubicBezTo>
                      <a:pt x="41" y="43"/>
                      <a:pt x="41" y="44"/>
                      <a:pt x="41" y="44"/>
                    </a:cubicBezTo>
                    <a:cubicBezTo>
                      <a:pt x="41" y="44"/>
                      <a:pt x="41" y="44"/>
                      <a:pt x="41" y="45"/>
                    </a:cubicBezTo>
                    <a:cubicBezTo>
                      <a:pt x="40" y="46"/>
                      <a:pt x="36" y="50"/>
                      <a:pt x="35" y="50"/>
                    </a:cubicBezTo>
                    <a:cubicBezTo>
                      <a:pt x="35" y="50"/>
                      <a:pt x="35" y="50"/>
                      <a:pt x="35" y="50"/>
                    </a:cubicBezTo>
                    <a:cubicBezTo>
                      <a:pt x="31" y="47"/>
                      <a:pt x="31" y="47"/>
                      <a:pt x="31" y="47"/>
                    </a:cubicBezTo>
                    <a:cubicBezTo>
                      <a:pt x="30" y="47"/>
                      <a:pt x="29" y="47"/>
                      <a:pt x="28" y="48"/>
                    </a:cubicBezTo>
                    <a:cubicBezTo>
                      <a:pt x="28" y="49"/>
                      <a:pt x="27" y="51"/>
                      <a:pt x="27" y="53"/>
                    </a:cubicBezTo>
                    <a:cubicBezTo>
                      <a:pt x="27" y="54"/>
                      <a:pt x="26" y="54"/>
                      <a:pt x="26" y="54"/>
                    </a:cubicBezTo>
                    <a:cubicBezTo>
                      <a:pt x="19" y="54"/>
                      <a:pt x="19" y="54"/>
                      <a:pt x="19" y="54"/>
                    </a:cubicBezTo>
                    <a:cubicBezTo>
                      <a:pt x="19" y="54"/>
                      <a:pt x="18" y="54"/>
                      <a:pt x="18" y="53"/>
                    </a:cubicBezTo>
                    <a:cubicBezTo>
                      <a:pt x="17" y="48"/>
                      <a:pt x="17" y="48"/>
                      <a:pt x="17" y="48"/>
                    </a:cubicBezTo>
                    <a:cubicBezTo>
                      <a:pt x="16" y="47"/>
                      <a:pt x="16" y="47"/>
                      <a:pt x="15" y="47"/>
                    </a:cubicBezTo>
                    <a:cubicBezTo>
                      <a:pt x="11" y="50"/>
                      <a:pt x="11" y="50"/>
                      <a:pt x="11" y="50"/>
                    </a:cubicBezTo>
                    <a:cubicBezTo>
                      <a:pt x="10" y="50"/>
                      <a:pt x="10" y="50"/>
                      <a:pt x="10" y="50"/>
                    </a:cubicBezTo>
                    <a:cubicBezTo>
                      <a:pt x="10" y="50"/>
                      <a:pt x="9" y="50"/>
                      <a:pt x="9" y="50"/>
                    </a:cubicBezTo>
                    <a:cubicBezTo>
                      <a:pt x="8" y="49"/>
                      <a:pt x="4" y="45"/>
                      <a:pt x="4" y="44"/>
                    </a:cubicBezTo>
                    <a:cubicBezTo>
                      <a:pt x="4" y="44"/>
                      <a:pt x="4" y="44"/>
                      <a:pt x="4" y="43"/>
                    </a:cubicBezTo>
                    <a:cubicBezTo>
                      <a:pt x="5" y="42"/>
                      <a:pt x="6" y="41"/>
                      <a:pt x="7" y="39"/>
                    </a:cubicBezTo>
                    <a:cubicBezTo>
                      <a:pt x="7" y="38"/>
                      <a:pt x="6" y="37"/>
                      <a:pt x="6" y="36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7"/>
                      <a:pt x="0" y="27"/>
                      <a:pt x="1" y="27"/>
                    </a:cubicBezTo>
                    <a:cubicBezTo>
                      <a:pt x="6" y="26"/>
                      <a:pt x="6" y="26"/>
                      <a:pt x="6" y="26"/>
                    </a:cubicBezTo>
                    <a:cubicBezTo>
                      <a:pt x="6" y="25"/>
                      <a:pt x="7" y="24"/>
                      <a:pt x="7" y="23"/>
                    </a:cubicBezTo>
                    <a:cubicBezTo>
                      <a:pt x="6" y="22"/>
                      <a:pt x="5" y="20"/>
                      <a:pt x="4" y="19"/>
                    </a:cubicBezTo>
                    <a:cubicBezTo>
                      <a:pt x="4" y="19"/>
                      <a:pt x="4" y="19"/>
                      <a:pt x="4" y="18"/>
                    </a:cubicBezTo>
                    <a:cubicBezTo>
                      <a:pt x="4" y="18"/>
                      <a:pt x="4" y="18"/>
                      <a:pt x="4" y="18"/>
                    </a:cubicBezTo>
                    <a:cubicBezTo>
                      <a:pt x="5" y="17"/>
                      <a:pt x="9" y="12"/>
                      <a:pt x="10" y="12"/>
                    </a:cubicBezTo>
                    <a:cubicBezTo>
                      <a:pt x="10" y="12"/>
                      <a:pt x="10" y="12"/>
                      <a:pt x="11" y="13"/>
                    </a:cubicBezTo>
                    <a:cubicBezTo>
                      <a:pt x="15" y="16"/>
                      <a:pt x="15" y="16"/>
                      <a:pt x="15" y="16"/>
                    </a:cubicBezTo>
                    <a:cubicBezTo>
                      <a:pt x="16" y="15"/>
                      <a:pt x="16" y="15"/>
                      <a:pt x="17" y="15"/>
                    </a:cubicBezTo>
                    <a:cubicBezTo>
                      <a:pt x="18" y="13"/>
                      <a:pt x="18" y="11"/>
                      <a:pt x="18" y="9"/>
                    </a:cubicBezTo>
                    <a:cubicBezTo>
                      <a:pt x="18" y="9"/>
                      <a:pt x="19" y="8"/>
                      <a:pt x="19" y="8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6" y="8"/>
                      <a:pt x="27" y="9"/>
                      <a:pt x="27" y="9"/>
                    </a:cubicBezTo>
                    <a:cubicBezTo>
                      <a:pt x="28" y="15"/>
                      <a:pt x="28" y="15"/>
                      <a:pt x="28" y="15"/>
                    </a:cubicBezTo>
                    <a:cubicBezTo>
                      <a:pt x="29" y="15"/>
                      <a:pt x="30" y="15"/>
                      <a:pt x="31" y="16"/>
                    </a:cubicBezTo>
                    <a:cubicBezTo>
                      <a:pt x="35" y="13"/>
                      <a:pt x="35" y="13"/>
                      <a:pt x="35" y="13"/>
                    </a:cubicBezTo>
                    <a:cubicBezTo>
                      <a:pt x="35" y="12"/>
                      <a:pt x="35" y="12"/>
                      <a:pt x="35" y="12"/>
                    </a:cubicBezTo>
                    <a:cubicBezTo>
                      <a:pt x="36" y="12"/>
                      <a:pt x="36" y="12"/>
                      <a:pt x="36" y="13"/>
                    </a:cubicBezTo>
                    <a:cubicBezTo>
                      <a:pt x="37" y="13"/>
                      <a:pt x="41" y="17"/>
                      <a:pt x="41" y="18"/>
                    </a:cubicBezTo>
                    <a:cubicBezTo>
                      <a:pt x="41" y="19"/>
                      <a:pt x="41" y="19"/>
                      <a:pt x="41" y="19"/>
                    </a:cubicBezTo>
                    <a:cubicBezTo>
                      <a:pt x="40" y="20"/>
                      <a:pt x="39" y="22"/>
                      <a:pt x="38" y="23"/>
                    </a:cubicBezTo>
                    <a:cubicBezTo>
                      <a:pt x="38" y="24"/>
                      <a:pt x="39" y="25"/>
                      <a:pt x="39" y="26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45" y="27"/>
                      <a:pt x="45" y="27"/>
                      <a:pt x="45" y="28"/>
                    </a:cubicBezTo>
                    <a:lnTo>
                      <a:pt x="45" y="35"/>
                    </a:lnTo>
                    <a:close/>
                    <a:moveTo>
                      <a:pt x="23" y="22"/>
                    </a:moveTo>
                    <a:cubicBezTo>
                      <a:pt x="18" y="22"/>
                      <a:pt x="13" y="26"/>
                      <a:pt x="13" y="31"/>
                    </a:cubicBezTo>
                    <a:cubicBezTo>
                      <a:pt x="13" y="36"/>
                      <a:pt x="18" y="40"/>
                      <a:pt x="23" y="40"/>
                    </a:cubicBezTo>
                    <a:cubicBezTo>
                      <a:pt x="28" y="40"/>
                      <a:pt x="32" y="36"/>
                      <a:pt x="32" y="31"/>
                    </a:cubicBezTo>
                    <a:cubicBezTo>
                      <a:pt x="32" y="26"/>
                      <a:pt x="28" y="22"/>
                      <a:pt x="23" y="22"/>
                    </a:cubicBezTo>
                    <a:close/>
                    <a:moveTo>
                      <a:pt x="68" y="15"/>
                    </a:moveTo>
                    <a:cubicBezTo>
                      <a:pt x="68" y="16"/>
                      <a:pt x="64" y="16"/>
                      <a:pt x="63" y="16"/>
                    </a:cubicBezTo>
                    <a:cubicBezTo>
                      <a:pt x="63" y="17"/>
                      <a:pt x="62" y="18"/>
                      <a:pt x="62" y="18"/>
                    </a:cubicBezTo>
                    <a:cubicBezTo>
                      <a:pt x="62" y="19"/>
                      <a:pt x="64" y="23"/>
                      <a:pt x="64" y="23"/>
                    </a:cubicBezTo>
                    <a:cubicBezTo>
                      <a:pt x="64" y="23"/>
                      <a:pt x="64" y="23"/>
                      <a:pt x="64" y="24"/>
                    </a:cubicBezTo>
                    <a:cubicBezTo>
                      <a:pt x="63" y="24"/>
                      <a:pt x="59" y="26"/>
                      <a:pt x="59" y="26"/>
                    </a:cubicBezTo>
                    <a:cubicBezTo>
                      <a:pt x="59" y="26"/>
                      <a:pt x="56" y="22"/>
                      <a:pt x="56" y="22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54" y="22"/>
                      <a:pt x="54" y="22"/>
                      <a:pt x="54" y="22"/>
                    </a:cubicBezTo>
                    <a:cubicBezTo>
                      <a:pt x="53" y="22"/>
                      <a:pt x="50" y="26"/>
                      <a:pt x="50" y="26"/>
                    </a:cubicBezTo>
                    <a:cubicBezTo>
                      <a:pt x="50" y="26"/>
                      <a:pt x="46" y="24"/>
                      <a:pt x="46" y="24"/>
                    </a:cubicBezTo>
                    <a:cubicBezTo>
                      <a:pt x="45" y="23"/>
                      <a:pt x="45" y="23"/>
                      <a:pt x="45" y="23"/>
                    </a:cubicBezTo>
                    <a:cubicBezTo>
                      <a:pt x="45" y="23"/>
                      <a:pt x="47" y="19"/>
                      <a:pt x="47" y="18"/>
                    </a:cubicBezTo>
                    <a:cubicBezTo>
                      <a:pt x="47" y="18"/>
                      <a:pt x="46" y="17"/>
                      <a:pt x="46" y="16"/>
                    </a:cubicBezTo>
                    <a:cubicBezTo>
                      <a:pt x="45" y="16"/>
                      <a:pt x="41" y="16"/>
                      <a:pt x="41" y="15"/>
                    </a:cubicBezTo>
                    <a:cubicBezTo>
                      <a:pt x="41" y="10"/>
                      <a:pt x="41" y="10"/>
                      <a:pt x="41" y="10"/>
                    </a:cubicBezTo>
                    <a:cubicBezTo>
                      <a:pt x="41" y="10"/>
                      <a:pt x="45" y="9"/>
                      <a:pt x="46" y="9"/>
                    </a:cubicBezTo>
                    <a:cubicBezTo>
                      <a:pt x="46" y="9"/>
                      <a:pt x="47" y="8"/>
                      <a:pt x="47" y="7"/>
                    </a:cubicBezTo>
                    <a:cubicBezTo>
                      <a:pt x="47" y="7"/>
                      <a:pt x="45" y="3"/>
                      <a:pt x="45" y="2"/>
                    </a:cubicBezTo>
                    <a:cubicBezTo>
                      <a:pt x="45" y="2"/>
                      <a:pt x="45" y="2"/>
                      <a:pt x="46" y="2"/>
                    </a:cubicBezTo>
                    <a:cubicBezTo>
                      <a:pt x="46" y="2"/>
                      <a:pt x="50" y="0"/>
                      <a:pt x="50" y="0"/>
                    </a:cubicBezTo>
                    <a:cubicBezTo>
                      <a:pt x="50" y="0"/>
                      <a:pt x="53" y="3"/>
                      <a:pt x="54" y="4"/>
                    </a:cubicBezTo>
                    <a:cubicBezTo>
                      <a:pt x="54" y="4"/>
                      <a:pt x="54" y="4"/>
                      <a:pt x="55" y="4"/>
                    </a:cubicBezTo>
                    <a:cubicBezTo>
                      <a:pt x="55" y="4"/>
                      <a:pt x="55" y="4"/>
                      <a:pt x="56" y="4"/>
                    </a:cubicBezTo>
                    <a:cubicBezTo>
                      <a:pt x="57" y="2"/>
                      <a:pt x="58" y="1"/>
                      <a:pt x="59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9" y="0"/>
                      <a:pt x="63" y="2"/>
                      <a:pt x="64" y="2"/>
                    </a:cubicBezTo>
                    <a:cubicBezTo>
                      <a:pt x="64" y="2"/>
                      <a:pt x="64" y="2"/>
                      <a:pt x="64" y="2"/>
                    </a:cubicBezTo>
                    <a:cubicBezTo>
                      <a:pt x="64" y="3"/>
                      <a:pt x="62" y="7"/>
                      <a:pt x="62" y="7"/>
                    </a:cubicBezTo>
                    <a:cubicBezTo>
                      <a:pt x="62" y="8"/>
                      <a:pt x="63" y="9"/>
                      <a:pt x="63" y="9"/>
                    </a:cubicBezTo>
                    <a:cubicBezTo>
                      <a:pt x="64" y="9"/>
                      <a:pt x="68" y="10"/>
                      <a:pt x="68" y="10"/>
                    </a:cubicBezTo>
                    <a:lnTo>
                      <a:pt x="68" y="15"/>
                    </a:lnTo>
                    <a:close/>
                    <a:moveTo>
                      <a:pt x="68" y="52"/>
                    </a:moveTo>
                    <a:cubicBezTo>
                      <a:pt x="68" y="52"/>
                      <a:pt x="64" y="53"/>
                      <a:pt x="63" y="53"/>
                    </a:cubicBezTo>
                    <a:cubicBezTo>
                      <a:pt x="63" y="54"/>
                      <a:pt x="62" y="54"/>
                      <a:pt x="62" y="55"/>
                    </a:cubicBezTo>
                    <a:cubicBezTo>
                      <a:pt x="62" y="56"/>
                      <a:pt x="64" y="59"/>
                      <a:pt x="64" y="60"/>
                    </a:cubicBezTo>
                    <a:cubicBezTo>
                      <a:pt x="64" y="60"/>
                      <a:pt x="64" y="60"/>
                      <a:pt x="64" y="60"/>
                    </a:cubicBezTo>
                    <a:cubicBezTo>
                      <a:pt x="63" y="60"/>
                      <a:pt x="59" y="63"/>
                      <a:pt x="59" y="63"/>
                    </a:cubicBezTo>
                    <a:cubicBezTo>
                      <a:pt x="59" y="63"/>
                      <a:pt x="56" y="59"/>
                      <a:pt x="56" y="59"/>
                    </a:cubicBezTo>
                    <a:cubicBezTo>
                      <a:pt x="55" y="59"/>
                      <a:pt x="55" y="59"/>
                      <a:pt x="55" y="59"/>
                    </a:cubicBezTo>
                    <a:cubicBezTo>
                      <a:pt x="54" y="59"/>
                      <a:pt x="54" y="59"/>
                      <a:pt x="54" y="59"/>
                    </a:cubicBezTo>
                    <a:cubicBezTo>
                      <a:pt x="53" y="59"/>
                      <a:pt x="50" y="63"/>
                      <a:pt x="50" y="63"/>
                    </a:cubicBezTo>
                    <a:cubicBezTo>
                      <a:pt x="50" y="63"/>
                      <a:pt x="46" y="60"/>
                      <a:pt x="46" y="60"/>
                    </a:cubicBezTo>
                    <a:cubicBezTo>
                      <a:pt x="45" y="60"/>
                      <a:pt x="45" y="60"/>
                      <a:pt x="45" y="60"/>
                    </a:cubicBezTo>
                    <a:cubicBezTo>
                      <a:pt x="45" y="59"/>
                      <a:pt x="47" y="56"/>
                      <a:pt x="47" y="55"/>
                    </a:cubicBezTo>
                    <a:cubicBezTo>
                      <a:pt x="47" y="54"/>
                      <a:pt x="46" y="54"/>
                      <a:pt x="46" y="53"/>
                    </a:cubicBezTo>
                    <a:cubicBezTo>
                      <a:pt x="45" y="53"/>
                      <a:pt x="41" y="52"/>
                      <a:pt x="41" y="52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41" y="46"/>
                      <a:pt x="45" y="46"/>
                      <a:pt x="46" y="46"/>
                    </a:cubicBezTo>
                    <a:cubicBezTo>
                      <a:pt x="46" y="45"/>
                      <a:pt x="47" y="45"/>
                      <a:pt x="47" y="44"/>
                    </a:cubicBezTo>
                    <a:cubicBezTo>
                      <a:pt x="47" y="43"/>
                      <a:pt x="45" y="40"/>
                      <a:pt x="45" y="39"/>
                    </a:cubicBezTo>
                    <a:cubicBezTo>
                      <a:pt x="45" y="39"/>
                      <a:pt x="45" y="39"/>
                      <a:pt x="46" y="39"/>
                    </a:cubicBezTo>
                    <a:cubicBezTo>
                      <a:pt x="46" y="39"/>
                      <a:pt x="50" y="36"/>
                      <a:pt x="50" y="36"/>
                    </a:cubicBezTo>
                    <a:cubicBezTo>
                      <a:pt x="50" y="36"/>
                      <a:pt x="53" y="40"/>
                      <a:pt x="54" y="40"/>
                    </a:cubicBezTo>
                    <a:cubicBezTo>
                      <a:pt x="54" y="40"/>
                      <a:pt x="54" y="40"/>
                      <a:pt x="55" y="40"/>
                    </a:cubicBezTo>
                    <a:cubicBezTo>
                      <a:pt x="55" y="40"/>
                      <a:pt x="55" y="40"/>
                      <a:pt x="56" y="40"/>
                    </a:cubicBezTo>
                    <a:cubicBezTo>
                      <a:pt x="57" y="39"/>
                      <a:pt x="58" y="38"/>
                      <a:pt x="59" y="36"/>
                    </a:cubicBezTo>
                    <a:cubicBezTo>
                      <a:pt x="59" y="36"/>
                      <a:pt x="59" y="36"/>
                      <a:pt x="59" y="36"/>
                    </a:cubicBezTo>
                    <a:cubicBezTo>
                      <a:pt x="59" y="36"/>
                      <a:pt x="63" y="39"/>
                      <a:pt x="64" y="39"/>
                    </a:cubicBezTo>
                    <a:cubicBezTo>
                      <a:pt x="64" y="39"/>
                      <a:pt x="64" y="39"/>
                      <a:pt x="64" y="39"/>
                    </a:cubicBezTo>
                    <a:cubicBezTo>
                      <a:pt x="64" y="40"/>
                      <a:pt x="62" y="43"/>
                      <a:pt x="62" y="44"/>
                    </a:cubicBezTo>
                    <a:cubicBezTo>
                      <a:pt x="62" y="45"/>
                      <a:pt x="63" y="45"/>
                      <a:pt x="63" y="46"/>
                    </a:cubicBezTo>
                    <a:cubicBezTo>
                      <a:pt x="64" y="46"/>
                      <a:pt x="68" y="46"/>
                      <a:pt x="68" y="47"/>
                    </a:cubicBezTo>
                    <a:lnTo>
                      <a:pt x="68" y="52"/>
                    </a:lnTo>
                    <a:close/>
                    <a:moveTo>
                      <a:pt x="55" y="8"/>
                    </a:moveTo>
                    <a:cubicBezTo>
                      <a:pt x="52" y="8"/>
                      <a:pt x="50" y="10"/>
                      <a:pt x="50" y="13"/>
                    </a:cubicBezTo>
                    <a:cubicBezTo>
                      <a:pt x="50" y="15"/>
                      <a:pt x="52" y="17"/>
                      <a:pt x="55" y="17"/>
                    </a:cubicBezTo>
                    <a:cubicBezTo>
                      <a:pt x="57" y="17"/>
                      <a:pt x="59" y="15"/>
                      <a:pt x="59" y="13"/>
                    </a:cubicBezTo>
                    <a:cubicBezTo>
                      <a:pt x="59" y="10"/>
                      <a:pt x="57" y="8"/>
                      <a:pt x="55" y="8"/>
                    </a:cubicBezTo>
                    <a:close/>
                    <a:moveTo>
                      <a:pt x="55" y="45"/>
                    </a:moveTo>
                    <a:cubicBezTo>
                      <a:pt x="52" y="45"/>
                      <a:pt x="50" y="47"/>
                      <a:pt x="50" y="49"/>
                    </a:cubicBezTo>
                    <a:cubicBezTo>
                      <a:pt x="50" y="52"/>
                      <a:pt x="52" y="54"/>
                      <a:pt x="55" y="54"/>
                    </a:cubicBezTo>
                    <a:cubicBezTo>
                      <a:pt x="57" y="54"/>
                      <a:pt x="59" y="52"/>
                      <a:pt x="59" y="49"/>
                    </a:cubicBezTo>
                    <a:cubicBezTo>
                      <a:pt x="59" y="47"/>
                      <a:pt x="57" y="45"/>
                      <a:pt x="55" y="4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7E945813-8198-4520-A687-A4664A548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2447490"/>
            <a:ext cx="3743325" cy="666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3D73E4-1C10-459D-A330-0B6F078DA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24" y="4920766"/>
            <a:ext cx="2686050" cy="5524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7B91B91-AAB0-481E-88F0-CBA2ADBAF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120" y="3466607"/>
            <a:ext cx="2114550" cy="100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3A2C08D-794A-4C26-B2B4-6D29ED43F0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4229" y="1436811"/>
            <a:ext cx="7527943" cy="461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031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fe1f664-17ef-4856-aa84-dc49753f0ef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13767e3-dc35-40d0-8e00-b7b14660c07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dc454a8-13c3-4d20-be3a-b92f52a2e274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1959</TotalTime>
  <Words>2229</Words>
  <Application>Microsoft Office PowerPoint</Application>
  <PresentationFormat>宽屏</PresentationFormat>
  <Paragraphs>320</Paragraphs>
  <Slides>31</Slides>
  <Notes>22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8" baseType="lpstr">
      <vt:lpstr>Helvetica Neue</vt:lpstr>
      <vt:lpstr>Arial</vt:lpstr>
      <vt:lpstr>Calibri</vt:lpstr>
      <vt:lpstr>Impact</vt:lpstr>
      <vt:lpstr>Wingdings</vt:lpstr>
      <vt:lpstr>主题5</vt:lpstr>
      <vt:lpstr>think-cell Slide</vt:lpstr>
      <vt:lpstr>Dubbo  And  Spring Cloud</vt:lpstr>
      <vt:lpstr>PowerPoint 演示文稿</vt:lpstr>
      <vt:lpstr>Architecture Evolution</vt:lpstr>
      <vt:lpstr>Architecture Evolution</vt:lpstr>
      <vt:lpstr>Vertical Architecture</vt:lpstr>
      <vt:lpstr>RPC Architecture</vt:lpstr>
      <vt:lpstr>SOA  Architecture</vt:lpstr>
      <vt:lpstr>Microservice Architecture</vt:lpstr>
      <vt:lpstr>Spring Cloud  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How to apply Zuul</vt:lpstr>
      <vt:lpstr>Config</vt:lpstr>
      <vt:lpstr>Config</vt:lpstr>
      <vt:lpstr>Client config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liu leo</cp:lastModifiedBy>
  <cp:revision>234</cp:revision>
  <cp:lastPrinted>2018-05-15T16:00:00Z</cp:lastPrinted>
  <dcterms:created xsi:type="dcterms:W3CDTF">2018-05-15T16:00:00Z</dcterms:created>
  <dcterms:modified xsi:type="dcterms:W3CDTF">2019-05-07T14:31:23Z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